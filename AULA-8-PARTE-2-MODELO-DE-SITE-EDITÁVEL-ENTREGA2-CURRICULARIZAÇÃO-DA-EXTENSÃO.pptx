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3004800" cy="7315200"/>
  <p:notesSz cx="10020300" cy="688816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A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42293" cy="345306"/>
          </a:xfrm>
          <a:prstGeom prst="rect">
            <a:avLst/>
          </a:prstGeom>
        </p:spPr>
        <p:txBody>
          <a:bodyPr vert="horz" lIns="76087" tIns="38044" rIns="76087" bIns="38044" rtlCol="0"/>
          <a:lstStyle>
            <a:lvl1pPr algn="l">
              <a:defRPr sz="10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675561" y="0"/>
            <a:ext cx="4342293" cy="345306"/>
          </a:xfrm>
          <a:prstGeom prst="rect">
            <a:avLst/>
          </a:prstGeom>
        </p:spPr>
        <p:txBody>
          <a:bodyPr vert="horz" lIns="76087" tIns="38044" rIns="76087" bIns="38044" rtlCol="0"/>
          <a:lstStyle>
            <a:lvl1pPr algn="r">
              <a:defRPr sz="1000"/>
            </a:lvl1pPr>
          </a:lstStyle>
          <a:p>
            <a:fld id="{2F02DACB-3D44-4230-A705-6319BB57C9B5}" type="datetimeFigureOut">
              <a:rPr lang="pt-BR" smtClean="0"/>
              <a:t>27/12/2024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943225" y="860425"/>
            <a:ext cx="4133850" cy="2325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76087" tIns="38044" rIns="76087" bIns="38044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1001786" y="3315527"/>
            <a:ext cx="8016729" cy="2711616"/>
          </a:xfrm>
          <a:prstGeom prst="rect">
            <a:avLst/>
          </a:prstGeom>
        </p:spPr>
        <p:txBody>
          <a:bodyPr vert="horz" lIns="76087" tIns="38044" rIns="76087" bIns="38044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542858"/>
            <a:ext cx="4342293" cy="345305"/>
          </a:xfrm>
          <a:prstGeom prst="rect">
            <a:avLst/>
          </a:prstGeom>
        </p:spPr>
        <p:txBody>
          <a:bodyPr vert="horz" lIns="76087" tIns="38044" rIns="76087" bIns="38044" rtlCol="0" anchor="b"/>
          <a:lstStyle>
            <a:lvl1pPr algn="l">
              <a:defRPr sz="10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675561" y="6542858"/>
            <a:ext cx="4342293" cy="345305"/>
          </a:xfrm>
          <a:prstGeom prst="rect">
            <a:avLst/>
          </a:prstGeom>
        </p:spPr>
        <p:txBody>
          <a:bodyPr vert="horz" lIns="76087" tIns="38044" rIns="76087" bIns="38044" rtlCol="0" anchor="b"/>
          <a:lstStyle>
            <a:lvl1pPr algn="r">
              <a:defRPr sz="1000"/>
            </a:lvl1pPr>
          </a:lstStyle>
          <a:p>
            <a:fld id="{7CC2F744-65DB-4142-BC8A-5660D3B951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4180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2F744-65DB-4142-BC8A-5660D3B9514E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9777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5836" y="2267712"/>
            <a:ext cx="11059478" cy="1536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1672" y="4096512"/>
            <a:ext cx="9107805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6E294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3011150" cy="7315200"/>
          </a:xfrm>
          <a:custGeom>
            <a:avLst/>
            <a:gdLst/>
            <a:ahLst/>
            <a:cxnLst/>
            <a:rect l="l" t="t" r="r" b="b"/>
            <a:pathLst>
              <a:path w="13011150" h="7315200">
                <a:moveTo>
                  <a:pt x="13011148" y="7315199"/>
                </a:moveTo>
                <a:lnTo>
                  <a:pt x="0" y="7315199"/>
                </a:lnTo>
                <a:lnTo>
                  <a:pt x="0" y="0"/>
                </a:lnTo>
                <a:lnTo>
                  <a:pt x="13011148" y="0"/>
                </a:lnTo>
                <a:lnTo>
                  <a:pt x="13011148" y="7315199"/>
                </a:lnTo>
                <a:close/>
              </a:path>
            </a:pathLst>
          </a:custGeom>
          <a:solidFill>
            <a:srgbClr val="6E29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89320" y="5875498"/>
            <a:ext cx="3455035" cy="0"/>
          </a:xfrm>
          <a:custGeom>
            <a:avLst/>
            <a:gdLst/>
            <a:ahLst/>
            <a:cxnLst/>
            <a:rect l="l" t="t" r="r" b="b"/>
            <a:pathLst>
              <a:path w="3455035">
                <a:moveTo>
                  <a:pt x="0" y="0"/>
                </a:moveTo>
                <a:lnTo>
                  <a:pt x="3454922" y="0"/>
                </a:lnTo>
              </a:path>
            </a:pathLst>
          </a:custGeom>
          <a:ln w="9524">
            <a:solidFill>
              <a:srgbClr val="E6E7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589120" y="736282"/>
            <a:ext cx="6690995" cy="10795"/>
          </a:xfrm>
          <a:custGeom>
            <a:avLst/>
            <a:gdLst/>
            <a:ahLst/>
            <a:cxnLst/>
            <a:rect l="l" t="t" r="r" b="b"/>
            <a:pathLst>
              <a:path w="6690995" h="10795">
                <a:moveTo>
                  <a:pt x="0" y="10192"/>
                </a:moveTo>
                <a:lnTo>
                  <a:pt x="6690509" y="0"/>
                </a:lnTo>
              </a:path>
            </a:pathLst>
          </a:custGeom>
          <a:ln w="9524">
            <a:solidFill>
              <a:srgbClr val="E6E7F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6E294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50557" y="1682496"/>
            <a:ext cx="5659850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700742" y="1682496"/>
            <a:ext cx="5659850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6E294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3011150" cy="7315200"/>
          </a:xfrm>
          <a:custGeom>
            <a:avLst/>
            <a:gdLst/>
            <a:ahLst/>
            <a:cxnLst/>
            <a:rect l="l" t="t" r="r" b="b"/>
            <a:pathLst>
              <a:path w="13011150" h="7315200">
                <a:moveTo>
                  <a:pt x="13011148" y="7315199"/>
                </a:moveTo>
                <a:lnTo>
                  <a:pt x="0" y="7315199"/>
                </a:lnTo>
                <a:lnTo>
                  <a:pt x="0" y="0"/>
                </a:lnTo>
                <a:lnTo>
                  <a:pt x="13011148" y="0"/>
                </a:lnTo>
                <a:lnTo>
                  <a:pt x="13011148" y="7315199"/>
                </a:lnTo>
                <a:close/>
              </a:path>
            </a:pathLst>
          </a:custGeom>
          <a:solidFill>
            <a:srgbClr val="E6E7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8132" y="176398"/>
            <a:ext cx="12414884" cy="1511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rgbClr val="6E294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497" y="1874688"/>
            <a:ext cx="11634154" cy="2816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23791" y="6803136"/>
            <a:ext cx="416356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557" y="6803136"/>
            <a:ext cx="2992564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68028" y="6803136"/>
            <a:ext cx="2992564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 idx="4294967295"/>
          </p:nvPr>
        </p:nvSpPr>
        <p:spPr>
          <a:xfrm>
            <a:off x="0" y="477838"/>
            <a:ext cx="6759575" cy="213042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 marR="5080" algn="ctr">
              <a:lnSpc>
                <a:spcPts val="5250"/>
              </a:lnSpc>
              <a:spcBef>
                <a:spcPts val="715"/>
              </a:spcBef>
            </a:pPr>
            <a:r>
              <a:rPr lang="pt-BR" sz="4800" spc="75" dirty="0">
                <a:solidFill>
                  <a:schemeClr val="tx1"/>
                </a:solidFill>
                <a:latin typeface="Comic Sans MS" panose="030F0702030302020204" pitchFamily="66" charset="0"/>
              </a:rPr>
              <a:t>CONCIENTIZAR PARA TODOS ACESSAR</a:t>
            </a:r>
            <a:endParaRPr sz="48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4966" y="2819400"/>
            <a:ext cx="5897433" cy="36259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3300"/>
              </a:lnSpc>
              <a:spcBef>
                <a:spcPts val="100"/>
              </a:spcBef>
            </a:pPr>
            <a:r>
              <a:rPr lang="pt-BR" sz="1900" b="1" i="0" dirty="0">
                <a:solidFill>
                  <a:srgbClr val="323E47"/>
                </a:solidFill>
                <a:effectLst/>
                <a:latin typeface="Comic Sans MS" panose="030F0702030302020204" pitchFamily="66" charset="0"/>
              </a:rPr>
              <a:t>A acessibilidade e inclusão são temas fundamentais na construção de uma sociedade mais justa e igualitária. Nos últimos anos, a discussão sobre esses assuntos ganhou destaque, mostrando a importância de garantir que todos, independentemente de suas capacidades físicas ou mentais, tenham acesso aos mesmos direitos e oportunidades. Essa conscientização é essencial não apenas para promover a dignidade humana, mas também para fomentar a diversidade e o enriquecimento cultural.</a:t>
            </a:r>
            <a:endParaRPr lang="pt-BR" sz="1900" b="1" dirty="0">
              <a:latin typeface="Comic Sans MS" panose="030F0702030302020204" pitchFamily="66" charset="0"/>
              <a:cs typeface="Verdana"/>
            </a:endParaRPr>
          </a:p>
        </p:txBody>
      </p:sp>
      <p:pic>
        <p:nvPicPr>
          <p:cNvPr id="1026" name="Picture 2" descr="Inclusão e acessibilidade na educação superior: Importância e prática">
            <a:extLst>
              <a:ext uri="{FF2B5EF4-FFF2-40B4-BE49-F238E27FC236}">
                <a16:creationId xmlns:a16="http://schemas.microsoft.com/office/drawing/2014/main" id="{B1C261DA-A6FC-4F71-9563-6D0C37B65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9600" y="1208076"/>
            <a:ext cx="5140757" cy="5140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45200" y="877151"/>
            <a:ext cx="6255224" cy="6124112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 algn="ctr">
              <a:lnSpc>
                <a:spcPts val="2180"/>
              </a:lnSpc>
              <a:spcBef>
                <a:spcPts val="355"/>
              </a:spcBef>
            </a:pPr>
            <a:r>
              <a:rPr lang="pt-BR" sz="2000" b="1" spc="-40" dirty="0">
                <a:solidFill>
                  <a:srgbClr val="E6E7FE"/>
                </a:solidFill>
                <a:latin typeface="Comic Sans MS" panose="030F0702030302020204" pitchFamily="66" charset="0"/>
                <a:cs typeface="Tahoma"/>
              </a:rPr>
              <a:t> </a:t>
            </a:r>
            <a:r>
              <a:rPr lang="pt-BR" sz="2000" b="1" spc="40" dirty="0">
                <a:latin typeface="Comic Sans MS" panose="030F0702030302020204" pitchFamily="66" charset="0"/>
                <a:cs typeface="Tahoma"/>
              </a:rPr>
              <a:t>A</a:t>
            </a:r>
            <a:r>
              <a:rPr lang="pt-BR" sz="2000" b="1" spc="-40" dirty="0">
                <a:latin typeface="Comic Sans MS" panose="030F0702030302020204" pitchFamily="66" charset="0"/>
                <a:cs typeface="Tahoma"/>
              </a:rPr>
              <a:t> </a:t>
            </a:r>
            <a:r>
              <a:rPr lang="pt-BR" sz="2000" b="1" spc="-90" dirty="0">
                <a:latin typeface="Comic Sans MS" panose="030F0702030302020204" pitchFamily="66" charset="0"/>
                <a:cs typeface="Tahoma"/>
              </a:rPr>
              <a:t>I</a:t>
            </a:r>
            <a:r>
              <a:rPr lang="pt-BR" sz="2000" b="1" spc="-114" dirty="0">
                <a:latin typeface="Comic Sans MS" panose="030F0702030302020204" pitchFamily="66" charset="0"/>
                <a:cs typeface="Tahoma"/>
              </a:rPr>
              <a:t>M</a:t>
            </a:r>
            <a:r>
              <a:rPr lang="pt-BR" sz="2000" b="1" spc="-25" dirty="0">
                <a:latin typeface="Comic Sans MS" panose="030F0702030302020204" pitchFamily="66" charset="0"/>
                <a:cs typeface="Tahoma"/>
              </a:rPr>
              <a:t>P</a:t>
            </a:r>
            <a:r>
              <a:rPr lang="pt-BR" sz="2000" b="1" spc="-60" dirty="0">
                <a:latin typeface="Comic Sans MS" panose="030F0702030302020204" pitchFamily="66" charset="0"/>
                <a:cs typeface="Tahoma"/>
              </a:rPr>
              <a:t>O</a:t>
            </a:r>
            <a:r>
              <a:rPr lang="pt-BR" sz="2000" b="1" spc="-90" dirty="0">
                <a:latin typeface="Comic Sans MS" panose="030F0702030302020204" pitchFamily="66" charset="0"/>
                <a:cs typeface="Tahoma"/>
              </a:rPr>
              <a:t>R</a:t>
            </a:r>
            <a:r>
              <a:rPr lang="pt-BR" sz="2000" b="1" spc="-80" dirty="0">
                <a:latin typeface="Comic Sans MS" panose="030F0702030302020204" pitchFamily="66" charset="0"/>
                <a:cs typeface="Tahoma"/>
              </a:rPr>
              <a:t>T</a:t>
            </a:r>
            <a:r>
              <a:rPr lang="pt-BR" sz="2000" b="1" spc="35" dirty="0">
                <a:latin typeface="Comic Sans MS" panose="030F0702030302020204" pitchFamily="66" charset="0"/>
                <a:cs typeface="Tahoma"/>
              </a:rPr>
              <a:t>Â</a:t>
            </a:r>
            <a:r>
              <a:rPr lang="pt-BR" sz="2000" b="1" spc="-80" dirty="0">
                <a:latin typeface="Comic Sans MS" panose="030F0702030302020204" pitchFamily="66" charset="0"/>
                <a:cs typeface="Tahoma"/>
              </a:rPr>
              <a:t>N</a:t>
            </a:r>
            <a:r>
              <a:rPr lang="pt-BR" sz="2000" b="1" spc="-55" dirty="0">
                <a:latin typeface="Comic Sans MS" panose="030F0702030302020204" pitchFamily="66" charset="0"/>
                <a:cs typeface="Tahoma"/>
              </a:rPr>
              <a:t>C</a:t>
            </a:r>
            <a:r>
              <a:rPr lang="pt-BR" sz="2000" b="1" spc="-90" dirty="0">
                <a:latin typeface="Comic Sans MS" panose="030F0702030302020204" pitchFamily="66" charset="0"/>
                <a:cs typeface="Tahoma"/>
              </a:rPr>
              <a:t>I</a:t>
            </a:r>
            <a:r>
              <a:rPr lang="pt-BR" sz="2000" b="1" spc="40" dirty="0">
                <a:latin typeface="Comic Sans MS" panose="030F0702030302020204" pitchFamily="66" charset="0"/>
                <a:cs typeface="Tahoma"/>
              </a:rPr>
              <a:t>A</a:t>
            </a:r>
            <a:r>
              <a:rPr lang="pt-BR" sz="2000" b="1" spc="-40" dirty="0">
                <a:latin typeface="Comic Sans MS" panose="030F0702030302020204" pitchFamily="66" charset="0"/>
                <a:cs typeface="Tahoma"/>
              </a:rPr>
              <a:t> </a:t>
            </a:r>
            <a:r>
              <a:rPr lang="pt-BR" sz="2000" b="1" spc="-30" dirty="0">
                <a:latin typeface="Comic Sans MS" panose="030F0702030302020204" pitchFamily="66" charset="0"/>
                <a:cs typeface="Tahoma"/>
              </a:rPr>
              <a:t>D</a:t>
            </a:r>
            <a:r>
              <a:rPr lang="pt-BR" sz="2000" b="1" spc="25" dirty="0">
                <a:latin typeface="Comic Sans MS" panose="030F0702030302020204" pitchFamily="66" charset="0"/>
                <a:cs typeface="Tahoma"/>
              </a:rPr>
              <a:t>A  </a:t>
            </a:r>
            <a:r>
              <a:rPr lang="pt-BR" sz="2000" b="1" spc="-50" dirty="0">
                <a:latin typeface="Comic Sans MS" panose="030F0702030302020204" pitchFamily="66" charset="0"/>
                <a:cs typeface="Tahoma"/>
              </a:rPr>
              <a:t>COSNCIENTIZAÇÃO</a:t>
            </a:r>
            <a:r>
              <a:rPr lang="pt-BR" sz="2000" b="1" spc="-40" dirty="0">
                <a:latin typeface="Comic Sans MS" panose="030F0702030302020204" pitchFamily="66" charset="0"/>
                <a:cs typeface="Tahoma"/>
              </a:rPr>
              <a:t> </a:t>
            </a:r>
            <a:r>
              <a:rPr lang="pt-BR" sz="2000" b="1" spc="5" dirty="0">
                <a:latin typeface="Comic Sans MS" panose="030F0702030302020204" pitchFamily="66" charset="0"/>
                <a:cs typeface="Tahoma"/>
              </a:rPr>
              <a:t>DA</a:t>
            </a:r>
            <a:r>
              <a:rPr lang="pt-BR" sz="2000" b="1" spc="-40" dirty="0">
                <a:latin typeface="Comic Sans MS" panose="030F0702030302020204" pitchFamily="66" charset="0"/>
                <a:cs typeface="Tahoma"/>
              </a:rPr>
              <a:t> </a:t>
            </a:r>
            <a:r>
              <a:rPr lang="pt-BR" sz="2000" b="1" spc="-45" dirty="0">
                <a:latin typeface="Comic Sans MS" panose="030F0702030302020204" pitchFamily="66" charset="0"/>
                <a:cs typeface="Tahoma"/>
              </a:rPr>
              <a:t>ACESSIBILIDADE</a:t>
            </a:r>
            <a:r>
              <a:rPr lang="pt-BR" sz="2000" b="1" spc="-40" dirty="0">
                <a:latin typeface="Comic Sans MS" panose="030F0702030302020204" pitchFamily="66" charset="0"/>
                <a:cs typeface="Tahoma"/>
              </a:rPr>
              <a:t> </a:t>
            </a:r>
            <a:r>
              <a:rPr lang="pt-BR" sz="2000" b="1" spc="-95" dirty="0">
                <a:latin typeface="Comic Sans MS" panose="030F0702030302020204" pitchFamily="66" charset="0"/>
                <a:cs typeface="Tahoma"/>
              </a:rPr>
              <a:t>E</a:t>
            </a:r>
            <a:r>
              <a:rPr lang="pt-BR" sz="2000" b="1" spc="-35" dirty="0">
                <a:latin typeface="Comic Sans MS" panose="030F0702030302020204" pitchFamily="66" charset="0"/>
                <a:cs typeface="Tahoma"/>
              </a:rPr>
              <a:t> </a:t>
            </a:r>
            <a:r>
              <a:rPr lang="pt-BR" sz="2000" b="1" spc="-100" dirty="0">
                <a:latin typeface="Comic Sans MS" panose="030F0702030302020204" pitchFamily="66" charset="0"/>
                <a:cs typeface="Tahoma"/>
              </a:rPr>
              <a:t>INCLUSÃO</a:t>
            </a:r>
          </a:p>
          <a:p>
            <a:pPr marL="12700" marR="5080">
              <a:lnSpc>
                <a:spcPts val="2180"/>
              </a:lnSpc>
              <a:spcBef>
                <a:spcPts val="355"/>
              </a:spcBef>
            </a:pPr>
            <a:endParaRPr lang="pt-BR" sz="2000" b="1" spc="-100" dirty="0">
              <a:latin typeface="Comic Sans MS" panose="030F0702030302020204" pitchFamily="66" charset="0"/>
              <a:cs typeface="Tahoma"/>
            </a:endParaRPr>
          </a:p>
          <a:p>
            <a:pPr marL="12700" marR="5080">
              <a:lnSpc>
                <a:spcPts val="2180"/>
              </a:lnSpc>
              <a:spcBef>
                <a:spcPts val="355"/>
              </a:spcBef>
            </a:pPr>
            <a:r>
              <a:rPr lang="pt-BR" sz="2000" b="1" i="0" dirty="0">
                <a:effectLst/>
                <a:latin typeface="Comic Sans MS" panose="030F0702030302020204" pitchFamily="66" charset="0"/>
              </a:rPr>
              <a:t>     A inclusão, por sua vez, é o processo de integrar as pessoas com deficiência na sociedade de forma plena e ativa. Isso significa que elas devem ter não apenas acesso, mas também a oportunidade de participar em igualdade de condições em atividades sociais, educacionais e profissionais. A inclusão promove a aceitação da diversidade e ajuda a desconstruir preconceitos, permitindo que todos contribuam para a sociedade com suas habilidades e talentos únicos.</a:t>
            </a:r>
          </a:p>
          <a:p>
            <a:pPr marL="12700" marR="5080">
              <a:lnSpc>
                <a:spcPts val="2180"/>
              </a:lnSpc>
              <a:spcBef>
                <a:spcPts val="355"/>
              </a:spcBef>
            </a:pPr>
            <a:r>
              <a:rPr lang="pt-BR" sz="2000" b="1" i="0" dirty="0">
                <a:effectLst/>
                <a:latin typeface="Comic Sans MS" panose="030F0702030302020204" pitchFamily="66" charset="0"/>
              </a:rPr>
              <a:t>     Já a acessibilidade é um tema fundamental nos dias de hoje, especialmente em uma sociedade que busca promover a inclusão e a equidade. Trata-se de garantir que todas as pessoas, independentemente de suas condições físicas, mentais ou sensoriais, possam acessar e usufruir dos espaços, serviços e produtos disponíveis.</a:t>
            </a:r>
            <a:endParaRPr sz="2000" b="1" dirty="0">
              <a:latin typeface="Comic Sans MS" panose="030F0702030302020204" pitchFamily="66" charset="0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501650" y="1143000"/>
            <a:ext cx="4705350" cy="185102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 marR="5080" algn="ctr">
              <a:lnSpc>
                <a:spcPts val="4580"/>
              </a:lnSpc>
              <a:spcBef>
                <a:spcPts val="635"/>
              </a:spcBef>
            </a:pPr>
            <a:r>
              <a:rPr lang="pt-BR" sz="4400" spc="75" dirty="0">
                <a:solidFill>
                  <a:schemeClr val="tx1"/>
                </a:solidFill>
                <a:latin typeface="Comic Sans MS" panose="030F0702030302020204" pitchFamily="66" charset="0"/>
              </a:rPr>
              <a:t>CONCIENTIZAR PARA TODOS ACESSAR</a:t>
            </a:r>
            <a:endParaRPr lang="pt-BR" sz="42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6456" y="4800600"/>
            <a:ext cx="4906587" cy="834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5999"/>
              </a:lnSpc>
              <a:spcBef>
                <a:spcPts val="95"/>
              </a:spcBef>
            </a:pPr>
            <a:r>
              <a:rPr lang="pt-BR" sz="2350" b="1" dirty="0">
                <a:latin typeface="Comic Sans MS" panose="030F0702030302020204" pitchFamily="66" charset="0"/>
                <a:cs typeface="Verdana"/>
              </a:rPr>
              <a:t>ACESSIBILIDADE</a:t>
            </a:r>
            <a:r>
              <a:rPr lang="pt-BR" sz="2350" b="1" spc="-130" dirty="0">
                <a:latin typeface="Comic Sans MS" panose="030F0702030302020204" pitchFamily="66" charset="0"/>
                <a:cs typeface="Verdana"/>
              </a:rPr>
              <a:t> E INCLUSÇÃO</a:t>
            </a:r>
          </a:p>
          <a:p>
            <a:pPr marL="12700" marR="5080" algn="ctr">
              <a:lnSpc>
                <a:spcPct val="115999"/>
              </a:lnSpc>
              <a:spcBef>
                <a:spcPts val="95"/>
              </a:spcBef>
            </a:pPr>
            <a:r>
              <a:rPr lang="pt-BR" sz="2350" spc="-130" dirty="0">
                <a:latin typeface="Comic Sans MS" panose="030F0702030302020204" pitchFamily="66" charset="0"/>
                <a:cs typeface="Verdana"/>
              </a:rPr>
              <a:t>CONHEÇA! RESPEITE! COLABORE!</a:t>
            </a:r>
            <a:endParaRPr sz="2350" dirty="0">
              <a:latin typeface="Comic Sans MS" panose="030F0702030302020204" pitchFamily="66" charset="0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590550" y="176213"/>
            <a:ext cx="12414250" cy="1511300"/>
          </a:xfrm>
          <a:prstGeom prst="rect">
            <a:avLst/>
          </a:prstGeom>
        </p:spPr>
        <p:txBody>
          <a:bodyPr vert="horz" wrap="square" lIns="0" tIns="304757" rIns="0" bIns="0" rtlCol="0">
            <a:spAutoFit/>
          </a:bodyPr>
          <a:lstStyle/>
          <a:p>
            <a:pPr marL="5604510" marR="5080">
              <a:lnSpc>
                <a:spcPts val="4580"/>
              </a:lnSpc>
              <a:spcBef>
                <a:spcPts val="635"/>
              </a:spcBef>
            </a:pPr>
            <a:r>
              <a:rPr sz="4200" spc="-160" dirty="0">
                <a:solidFill>
                  <a:schemeClr val="tx1"/>
                </a:solidFill>
                <a:latin typeface="Comic Sans MS" panose="030F0702030302020204" pitchFamily="66" charset="0"/>
              </a:rPr>
              <a:t>Experimento</a:t>
            </a:r>
            <a:r>
              <a:rPr sz="4200" spc="-135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sz="4200" spc="-130" dirty="0">
                <a:solidFill>
                  <a:schemeClr val="tx1"/>
                </a:solidFill>
                <a:latin typeface="Comic Sans MS" panose="030F0702030302020204" pitchFamily="66" charset="0"/>
              </a:rPr>
              <a:t>Social: </a:t>
            </a:r>
            <a:r>
              <a:rPr sz="4200" spc="-1220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sz="4200" spc="-105" dirty="0">
                <a:solidFill>
                  <a:schemeClr val="tx1"/>
                </a:solidFill>
                <a:latin typeface="Comic Sans MS" panose="030F0702030302020204" pitchFamily="66" charset="0"/>
              </a:rPr>
              <a:t>Mobilidade</a:t>
            </a:r>
            <a:endParaRPr sz="42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12191" y="2008496"/>
            <a:ext cx="7000825" cy="41637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87045" algn="ctr">
              <a:lnSpc>
                <a:spcPct val="113300"/>
              </a:lnSpc>
            </a:pPr>
            <a:r>
              <a:rPr lang="pt-BR" sz="2000" b="1" spc="55" dirty="0">
                <a:latin typeface="Comic Sans MS" panose="030F0702030302020204" pitchFamily="66" charset="0"/>
                <a:cs typeface="Tahoma"/>
              </a:rPr>
              <a:t>NO PRIMEIRO EXPERIMENTO VENDEI OS OLHOS POR 4 HORAS E EXPERIMENTEI ANDAR DENTRO DA MINHA CASA. E TENTEI REALIZAR AS TAREFAS QUE CORRIQUEIRAMENTE FAÇO. NO ENTANTO, APENAS UMA PEQUENA PARCELA DAS ATIVIDADES TIVE CONDIÇÕES DE FAZER. NÃO PODIA ACESSAR A INTERNET, NÃO PODIA ASSISTIR UMA TELEVISÃO, NÃO PODIA LER UM LIVRO, NÃO PODIA FAZER MEU PRÓPRIO LANCHE... RESTOU OUVIR O RÁDIO...</a:t>
            </a:r>
            <a:endParaRPr lang="pt-BR" sz="2000" dirty="0">
              <a:latin typeface="Comic Sans MS" panose="030F0702030302020204" pitchFamily="66" charset="0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080563" y="6037712"/>
            <a:ext cx="8255" cy="5715"/>
          </a:xfrm>
          <a:custGeom>
            <a:avLst/>
            <a:gdLst/>
            <a:ahLst/>
            <a:cxnLst/>
            <a:rect l="l" t="t" r="r" b="b"/>
            <a:pathLst>
              <a:path w="8254" h="5714">
                <a:moveTo>
                  <a:pt x="8034" y="0"/>
                </a:moveTo>
                <a:lnTo>
                  <a:pt x="0" y="5417"/>
                </a:lnTo>
              </a:path>
            </a:pathLst>
          </a:custGeom>
          <a:ln w="38100">
            <a:solidFill>
              <a:srgbClr val="6E29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464800" y="6400800"/>
            <a:ext cx="8242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6E294B"/>
                </a:solidFill>
                <a:latin typeface="Tahoma"/>
                <a:cs typeface="Tahoma"/>
              </a:rPr>
              <a:t>L</a:t>
            </a:r>
            <a:r>
              <a:rPr sz="1400" b="1" spc="-70" dirty="0">
                <a:solidFill>
                  <a:srgbClr val="6E294B"/>
                </a:solidFill>
                <a:latin typeface="Tahoma"/>
                <a:cs typeface="Tahoma"/>
              </a:rPr>
              <a:t>e</a:t>
            </a:r>
            <a:r>
              <a:rPr sz="1400" b="1" spc="-65" dirty="0">
                <a:solidFill>
                  <a:srgbClr val="6E294B"/>
                </a:solidFill>
                <a:latin typeface="Tahoma"/>
                <a:cs typeface="Tahoma"/>
              </a:rPr>
              <a:t>i</a:t>
            </a:r>
            <a:r>
              <a:rPr sz="1400" b="1" spc="25" dirty="0">
                <a:solidFill>
                  <a:srgbClr val="6E294B"/>
                </a:solidFill>
                <a:latin typeface="Tahoma"/>
                <a:cs typeface="Tahoma"/>
              </a:rPr>
              <a:t>a</a:t>
            </a:r>
            <a:r>
              <a:rPr sz="1400" b="1" spc="-30" dirty="0">
                <a:solidFill>
                  <a:srgbClr val="6E294B"/>
                </a:solidFill>
                <a:latin typeface="Tahoma"/>
                <a:cs typeface="Tahoma"/>
              </a:rPr>
              <a:t> </a:t>
            </a:r>
            <a:r>
              <a:rPr sz="1400" b="1" spc="-70" dirty="0">
                <a:solidFill>
                  <a:srgbClr val="6E294B"/>
                </a:solidFill>
                <a:latin typeface="Tahoma"/>
                <a:cs typeface="Tahoma"/>
              </a:rPr>
              <a:t>M</a:t>
            </a:r>
            <a:r>
              <a:rPr sz="1400" b="1" spc="20" dirty="0">
                <a:solidFill>
                  <a:srgbClr val="6E294B"/>
                </a:solidFill>
                <a:latin typeface="Tahoma"/>
                <a:cs typeface="Tahoma"/>
              </a:rPr>
              <a:t>a</a:t>
            </a:r>
            <a:r>
              <a:rPr sz="1400" b="1" spc="-65" dirty="0">
                <a:solidFill>
                  <a:srgbClr val="6E294B"/>
                </a:solidFill>
                <a:latin typeface="Tahoma"/>
                <a:cs typeface="Tahoma"/>
              </a:rPr>
              <a:t>i</a:t>
            </a:r>
            <a:r>
              <a:rPr sz="1400" b="1" spc="-20" dirty="0">
                <a:solidFill>
                  <a:srgbClr val="6E294B"/>
                </a:solidFill>
                <a:latin typeface="Tahoma"/>
                <a:cs typeface="Tahoma"/>
              </a:rPr>
              <a:t>s</a:t>
            </a:r>
            <a:endParaRPr sz="1400" dirty="0">
              <a:latin typeface="Tahoma"/>
              <a:cs typeface="Tahoma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4CEA9C8-DE11-487E-9CB4-CCE07A36E1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84" y="176398"/>
            <a:ext cx="5257800" cy="701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269854" y="347379"/>
            <a:ext cx="6557145" cy="75012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25000"/>
              </a:lnSpc>
              <a:spcBef>
                <a:spcPts val="100"/>
              </a:spcBef>
            </a:pPr>
            <a:r>
              <a:rPr sz="2000" b="1" spc="-170" dirty="0">
                <a:latin typeface="Comic Sans MS" panose="030F0702030302020204" pitchFamily="66" charset="0"/>
                <a:cs typeface="Verdana"/>
              </a:rPr>
              <a:t>R</a:t>
            </a:r>
            <a:r>
              <a:rPr sz="2000" b="1" spc="-180" dirty="0">
                <a:latin typeface="Comic Sans MS" panose="030F0702030302020204" pitchFamily="66" charset="0"/>
                <a:cs typeface="Verdana"/>
              </a:rPr>
              <a:t>E</a:t>
            </a:r>
            <a:r>
              <a:rPr sz="2000" b="1" spc="-160" dirty="0">
                <a:latin typeface="Comic Sans MS" panose="030F0702030302020204" pitchFamily="66" charset="0"/>
                <a:cs typeface="Verdana"/>
              </a:rPr>
              <a:t>G</a:t>
            </a:r>
            <a:r>
              <a:rPr sz="2000" b="1" spc="-425" dirty="0">
                <a:latin typeface="Comic Sans MS" panose="030F0702030302020204" pitchFamily="66" charset="0"/>
                <a:cs typeface="Verdana"/>
              </a:rPr>
              <a:t>I</a:t>
            </a:r>
            <a:r>
              <a:rPr sz="2000" b="1" spc="-150" dirty="0">
                <a:latin typeface="Comic Sans MS" panose="030F0702030302020204" pitchFamily="66" charset="0"/>
                <a:cs typeface="Verdana"/>
              </a:rPr>
              <a:t>S</a:t>
            </a:r>
            <a:r>
              <a:rPr sz="2000" b="1" spc="-145" dirty="0">
                <a:latin typeface="Comic Sans MS" panose="030F0702030302020204" pitchFamily="66" charset="0"/>
                <a:cs typeface="Verdana"/>
              </a:rPr>
              <a:t>T</a:t>
            </a:r>
            <a:r>
              <a:rPr sz="2000" b="1" spc="-170" dirty="0">
                <a:latin typeface="Comic Sans MS" panose="030F0702030302020204" pitchFamily="66" charset="0"/>
                <a:cs typeface="Verdana"/>
              </a:rPr>
              <a:t>R</a:t>
            </a:r>
            <a:r>
              <a:rPr sz="2000" b="1" spc="-90" dirty="0">
                <a:latin typeface="Comic Sans MS" panose="030F0702030302020204" pitchFamily="66" charset="0"/>
                <a:cs typeface="Verdana"/>
              </a:rPr>
              <a:t>O</a:t>
            </a:r>
            <a:r>
              <a:rPr sz="2000" b="1" spc="-200" dirty="0">
                <a:latin typeface="Comic Sans MS" panose="030F0702030302020204" pitchFamily="66" charset="0"/>
                <a:cs typeface="Verdana"/>
              </a:rPr>
              <a:t> </a:t>
            </a:r>
            <a:r>
              <a:rPr sz="2000" b="1" spc="-155" dirty="0">
                <a:latin typeface="Comic Sans MS" panose="030F0702030302020204" pitchFamily="66" charset="0"/>
                <a:cs typeface="Verdana"/>
              </a:rPr>
              <a:t>D</a:t>
            </a:r>
            <a:r>
              <a:rPr sz="2000" b="1" spc="-55" dirty="0">
                <a:latin typeface="Comic Sans MS" panose="030F0702030302020204" pitchFamily="66" charset="0"/>
                <a:cs typeface="Verdana"/>
              </a:rPr>
              <a:t>O  </a:t>
            </a:r>
            <a:r>
              <a:rPr sz="2000" b="1" spc="-180" dirty="0">
                <a:latin typeface="Comic Sans MS" panose="030F0702030302020204" pitchFamily="66" charset="0"/>
                <a:cs typeface="Verdana"/>
              </a:rPr>
              <a:t>E</a:t>
            </a:r>
            <a:r>
              <a:rPr sz="2000" b="1" spc="-185" dirty="0">
                <a:latin typeface="Comic Sans MS" panose="030F0702030302020204" pitchFamily="66" charset="0"/>
                <a:cs typeface="Verdana"/>
              </a:rPr>
              <a:t>X</a:t>
            </a:r>
            <a:r>
              <a:rPr sz="2000" b="1" spc="-150" dirty="0">
                <a:latin typeface="Comic Sans MS" panose="030F0702030302020204" pitchFamily="66" charset="0"/>
                <a:cs typeface="Verdana"/>
              </a:rPr>
              <a:t>P</a:t>
            </a:r>
            <a:r>
              <a:rPr sz="2000" b="1" spc="-180" dirty="0">
                <a:latin typeface="Comic Sans MS" panose="030F0702030302020204" pitchFamily="66" charset="0"/>
                <a:cs typeface="Verdana"/>
              </a:rPr>
              <a:t>E</a:t>
            </a:r>
            <a:r>
              <a:rPr sz="2000" b="1" spc="-170" dirty="0">
                <a:latin typeface="Comic Sans MS" panose="030F0702030302020204" pitchFamily="66" charset="0"/>
                <a:cs typeface="Verdana"/>
              </a:rPr>
              <a:t>R</a:t>
            </a:r>
            <a:r>
              <a:rPr sz="2000" b="1" spc="-425" dirty="0">
                <a:latin typeface="Comic Sans MS" panose="030F0702030302020204" pitchFamily="66" charset="0"/>
                <a:cs typeface="Verdana"/>
              </a:rPr>
              <a:t>I</a:t>
            </a:r>
            <a:r>
              <a:rPr sz="2000" b="1" spc="-195" dirty="0">
                <a:latin typeface="Comic Sans MS" panose="030F0702030302020204" pitchFamily="66" charset="0"/>
                <a:cs typeface="Verdana"/>
              </a:rPr>
              <a:t>M</a:t>
            </a:r>
            <a:r>
              <a:rPr sz="2000" b="1" spc="-180" dirty="0">
                <a:latin typeface="Comic Sans MS" panose="030F0702030302020204" pitchFamily="66" charset="0"/>
                <a:cs typeface="Verdana"/>
              </a:rPr>
              <a:t>E</a:t>
            </a:r>
            <a:r>
              <a:rPr sz="2000" b="1" spc="-185" dirty="0">
                <a:latin typeface="Comic Sans MS" panose="030F0702030302020204" pitchFamily="66" charset="0"/>
                <a:cs typeface="Verdana"/>
              </a:rPr>
              <a:t>N</a:t>
            </a:r>
            <a:r>
              <a:rPr sz="2000" b="1" spc="-145" dirty="0">
                <a:latin typeface="Comic Sans MS" panose="030F0702030302020204" pitchFamily="66" charset="0"/>
                <a:cs typeface="Verdana"/>
              </a:rPr>
              <a:t>T</a:t>
            </a:r>
            <a:r>
              <a:rPr sz="2000" b="1" spc="-90" dirty="0">
                <a:latin typeface="Comic Sans MS" panose="030F0702030302020204" pitchFamily="66" charset="0"/>
                <a:cs typeface="Verdana"/>
              </a:rPr>
              <a:t>O</a:t>
            </a:r>
            <a:r>
              <a:rPr sz="2000" b="1" spc="-200" dirty="0">
                <a:latin typeface="Comic Sans MS" panose="030F0702030302020204" pitchFamily="66" charset="0"/>
                <a:cs typeface="Verdana"/>
              </a:rPr>
              <a:t> </a:t>
            </a:r>
            <a:r>
              <a:rPr sz="2000" b="1" spc="-170" dirty="0">
                <a:latin typeface="Comic Sans MS" panose="030F0702030302020204" pitchFamily="66" charset="0"/>
                <a:cs typeface="Verdana"/>
              </a:rPr>
              <a:t>R</a:t>
            </a:r>
            <a:r>
              <a:rPr sz="2000" b="1" spc="-180" dirty="0">
                <a:latin typeface="Comic Sans MS" panose="030F0702030302020204" pitchFamily="66" charset="0"/>
                <a:cs typeface="Verdana"/>
              </a:rPr>
              <a:t>E</a:t>
            </a:r>
            <a:r>
              <a:rPr sz="2000" b="1" spc="-95" dirty="0">
                <a:latin typeface="Comic Sans MS" panose="030F0702030302020204" pitchFamily="66" charset="0"/>
                <a:cs typeface="Verdana"/>
              </a:rPr>
              <a:t>A</a:t>
            </a:r>
            <a:r>
              <a:rPr sz="2000" b="1" spc="-165" dirty="0">
                <a:latin typeface="Comic Sans MS" panose="030F0702030302020204" pitchFamily="66" charset="0"/>
                <a:cs typeface="Verdana"/>
              </a:rPr>
              <a:t>L</a:t>
            </a:r>
            <a:r>
              <a:rPr sz="2000" b="1" spc="-425" dirty="0">
                <a:latin typeface="Comic Sans MS" panose="030F0702030302020204" pitchFamily="66" charset="0"/>
                <a:cs typeface="Verdana"/>
              </a:rPr>
              <a:t>I</a:t>
            </a:r>
            <a:r>
              <a:rPr sz="2000" b="1" spc="-175" dirty="0">
                <a:latin typeface="Comic Sans MS" panose="030F0702030302020204" pitchFamily="66" charset="0"/>
                <a:cs typeface="Verdana"/>
              </a:rPr>
              <a:t>Z</a:t>
            </a:r>
            <a:r>
              <a:rPr sz="2000" b="1" spc="-95" dirty="0">
                <a:latin typeface="Comic Sans MS" panose="030F0702030302020204" pitchFamily="66" charset="0"/>
                <a:cs typeface="Verdana"/>
              </a:rPr>
              <a:t>A</a:t>
            </a:r>
            <a:r>
              <a:rPr sz="2000" b="1" spc="-155" dirty="0">
                <a:latin typeface="Comic Sans MS" panose="030F0702030302020204" pitchFamily="66" charset="0"/>
                <a:cs typeface="Verdana"/>
              </a:rPr>
              <a:t>D</a:t>
            </a:r>
            <a:r>
              <a:rPr sz="2000" b="1" spc="-145" dirty="0">
                <a:latin typeface="Comic Sans MS" panose="030F0702030302020204" pitchFamily="66" charset="0"/>
                <a:cs typeface="Verdana"/>
              </a:rPr>
              <a:t>O</a:t>
            </a:r>
            <a:endParaRPr lang="pt-BR" sz="2000" b="1" spc="-155" dirty="0">
              <a:latin typeface="Comic Sans MS" panose="030F0702030302020204" pitchFamily="66" charset="0"/>
              <a:cs typeface="Verdana"/>
            </a:endParaRPr>
          </a:p>
          <a:p>
            <a:pPr marL="12700" marR="5080" algn="ctr">
              <a:lnSpc>
                <a:spcPct val="125000"/>
              </a:lnSpc>
              <a:spcBef>
                <a:spcPts val="100"/>
              </a:spcBef>
            </a:pPr>
            <a:endParaRPr lang="pt-BR" sz="1900" dirty="0">
              <a:latin typeface="Verdana"/>
              <a:cs typeface="Verdana"/>
            </a:endParaRPr>
          </a:p>
          <a:p>
            <a:pPr marL="298450" marR="35433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pt-BR" sz="20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NOS PRIMEIROS MOMENTO  FOI ATÉ DIVERTIIDO, NO ENTANTO COM O PASSAR DO TEMPO PERDI A NOÇÃO DO ESPAÇO E PASSEI A ME CHOCAR COM OS MÓVEIS, NÃO CONSEGUIA ME LOCOMOVER E NEM USAR O BANHEIRO CONFORTAVELMENTE.</a:t>
            </a:r>
          </a:p>
          <a:p>
            <a:pPr marL="298450" marR="35433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pt-BR" sz="20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UMA GRANDE PARCELA DAS ATIVIDADES QUE REALIZO CORRIQUEIRAMENTE NÃO PODIA REALIZAR. A EXEMPLO: ASSISTIR TELEVISÃO, ACESSAR INTERNET, FAZER A MINHA PRÓPRIA COMIDA (PRÁTICA QUE APRECIO) OU LER.</a:t>
            </a:r>
          </a:p>
          <a:p>
            <a:pPr marL="298450" marR="35433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pt-BR" sz="20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MEUS FILHO FICAVAM CONVERSANDO E BRINCANDO COMIGO, MAS LOGO FORAM SE CANSANDO E EU FIQUEI SÓ.</a:t>
            </a:r>
          </a:p>
          <a:p>
            <a:pPr marL="12700" marR="354330">
              <a:lnSpc>
                <a:spcPct val="125000"/>
              </a:lnSpc>
            </a:pPr>
            <a:r>
              <a:rPr lang="pt-BR" sz="1900" dirty="0">
                <a:solidFill>
                  <a:srgbClr val="E6E7FE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 </a:t>
            </a:r>
          </a:p>
          <a:p>
            <a:pPr marL="12700" marR="354330">
              <a:lnSpc>
                <a:spcPct val="125000"/>
              </a:lnSpc>
            </a:pPr>
            <a:endParaRPr lang="pt-BR" sz="1900" b="1" spc="-160" dirty="0">
              <a:solidFill>
                <a:srgbClr val="E6E7F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354330">
              <a:lnSpc>
                <a:spcPct val="125000"/>
              </a:lnSpc>
            </a:pP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85480E1-5D20-4439-A880-AC1214A1C7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" y="0"/>
            <a:ext cx="54864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8003754" y="5939442"/>
            <a:ext cx="3455035" cy="0"/>
          </a:xfrm>
          <a:custGeom>
            <a:avLst/>
            <a:gdLst/>
            <a:ahLst/>
            <a:cxnLst/>
            <a:rect l="l" t="t" r="r" b="b"/>
            <a:pathLst>
              <a:path w="3455034">
                <a:moveTo>
                  <a:pt x="0" y="0"/>
                </a:moveTo>
                <a:lnTo>
                  <a:pt x="3454922" y="0"/>
                </a:lnTo>
              </a:path>
            </a:pathLst>
          </a:custGeom>
          <a:ln w="9524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589120" y="736282"/>
            <a:ext cx="6690995" cy="10795"/>
          </a:xfrm>
          <a:custGeom>
            <a:avLst/>
            <a:gdLst/>
            <a:ahLst/>
            <a:cxnLst/>
            <a:rect l="l" t="t" r="r" b="b"/>
            <a:pathLst>
              <a:path w="6690995" h="10795">
                <a:moveTo>
                  <a:pt x="0" y="10192"/>
                </a:moveTo>
                <a:lnTo>
                  <a:pt x="6690509" y="0"/>
                </a:lnTo>
              </a:path>
            </a:pathLst>
          </a:custGeom>
          <a:ln w="9524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8497" y="2547284"/>
            <a:ext cx="5902325" cy="3777316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ts val="2290"/>
              </a:lnSpc>
              <a:spcBef>
                <a:spcPts val="1910"/>
              </a:spcBef>
            </a:pPr>
            <a:r>
              <a:rPr lang="pt-BR" sz="2400" dirty="0">
                <a:latin typeface="Comic Sans MS" panose="030F0702030302020204" pitchFamily="66" charset="0"/>
                <a:cs typeface="Tahoma"/>
              </a:rPr>
              <a:t>POR 6 HORAS ME PRIVEI DA VOZ E DA ESCRITA E DA AUDIÇÃO(USEI UNS PROTETORES AUDITIVOS DE EPI), USANDO APENAS JESTOS E EXPRESSÕES COMO FORMA DE COMUNICAÇÃO. </a:t>
            </a:r>
          </a:p>
          <a:p>
            <a:pPr marL="12700">
              <a:lnSpc>
                <a:spcPts val="2290"/>
              </a:lnSpc>
              <a:spcBef>
                <a:spcPts val="1910"/>
              </a:spcBef>
            </a:pPr>
            <a:r>
              <a:rPr lang="pt-BR" sz="2400" dirty="0">
                <a:latin typeface="Comic Sans MS" panose="030F0702030302020204" pitchFamily="66" charset="0"/>
                <a:cs typeface="Tahoma"/>
              </a:rPr>
              <a:t>A MAIOR PARTE DO EXPERIMENTO FOI DENTRO DA MINHA CASA. MAS  ME AVENTURAR ANDANDO NAS VIZINHAÇA, FORA DA MINHA CASA.</a:t>
            </a:r>
          </a:p>
          <a:p>
            <a:pPr marL="12700">
              <a:lnSpc>
                <a:spcPts val="2290"/>
              </a:lnSpc>
              <a:spcBef>
                <a:spcPts val="1910"/>
              </a:spcBef>
            </a:pPr>
            <a:endParaRPr lang="pt-BR" sz="2000" dirty="0">
              <a:latin typeface="Comic Sans MS" panose="030F0702030302020204" pitchFamily="66" charset="0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18820" y="872357"/>
            <a:ext cx="5034915" cy="1261243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 marR="5080">
              <a:lnSpc>
                <a:spcPts val="4580"/>
              </a:lnSpc>
              <a:spcBef>
                <a:spcPts val="635"/>
              </a:spcBef>
            </a:pPr>
            <a:r>
              <a:rPr sz="4200" spc="-160" dirty="0">
                <a:solidFill>
                  <a:schemeClr val="tx1"/>
                </a:solidFill>
              </a:rPr>
              <a:t>Experimento</a:t>
            </a:r>
            <a:r>
              <a:rPr sz="4200" spc="-135" dirty="0">
                <a:solidFill>
                  <a:schemeClr val="tx1"/>
                </a:solidFill>
              </a:rPr>
              <a:t> </a:t>
            </a:r>
            <a:r>
              <a:rPr sz="4200" spc="-130" dirty="0">
                <a:solidFill>
                  <a:schemeClr val="tx1"/>
                </a:solidFill>
              </a:rPr>
              <a:t>Social: </a:t>
            </a:r>
            <a:r>
              <a:rPr sz="4200" spc="-1220" dirty="0">
                <a:solidFill>
                  <a:schemeClr val="tx1"/>
                </a:solidFill>
              </a:rPr>
              <a:t> </a:t>
            </a:r>
            <a:r>
              <a:rPr sz="4200" spc="-85" dirty="0">
                <a:solidFill>
                  <a:schemeClr val="tx1"/>
                </a:solidFill>
              </a:rPr>
              <a:t>Comunicação</a:t>
            </a:r>
            <a:endParaRPr sz="4200" dirty="0">
              <a:solidFill>
                <a:schemeClr val="tx1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74001" y="4047825"/>
            <a:ext cx="3939282" cy="1895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5999"/>
              </a:lnSpc>
              <a:spcBef>
                <a:spcPts val="95"/>
              </a:spcBef>
            </a:pPr>
            <a:r>
              <a:rPr lang="pt-BR" sz="3600" b="0" i="0" dirty="0">
                <a:effectLst/>
                <a:latin typeface="Google Sans"/>
              </a:rPr>
              <a:t>"Acessibilidade é a arte de remover barreiras"</a:t>
            </a:r>
            <a:endParaRPr sz="3600" dirty="0">
              <a:latin typeface="Verdana"/>
              <a:cs typeface="Verdana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AD9C46A-2784-4AAD-B3D3-BD624C2904C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267"/>
          <a:stretch/>
        </p:blipFill>
        <p:spPr>
          <a:xfrm>
            <a:off x="8077679" y="1010384"/>
            <a:ext cx="3446613" cy="30207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025808" y="6451600"/>
            <a:ext cx="11557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244" marR="5080" indent="-43180">
              <a:lnSpc>
                <a:spcPct val="125000"/>
              </a:lnSpc>
              <a:spcBef>
                <a:spcPts val="100"/>
              </a:spcBef>
            </a:pPr>
            <a:r>
              <a:rPr sz="1200" spc="55" dirty="0">
                <a:solidFill>
                  <a:srgbClr val="E6E7FE"/>
                </a:solidFill>
                <a:latin typeface="Tahoma"/>
                <a:cs typeface="Tahoma"/>
              </a:rPr>
              <a:t>Leia</a:t>
            </a:r>
            <a:r>
              <a:rPr sz="1200" spc="-70" dirty="0">
                <a:solidFill>
                  <a:srgbClr val="E6E7FE"/>
                </a:solidFill>
                <a:latin typeface="Tahoma"/>
                <a:cs typeface="Tahoma"/>
              </a:rPr>
              <a:t> </a:t>
            </a:r>
            <a:r>
              <a:rPr sz="1200" spc="75" dirty="0">
                <a:solidFill>
                  <a:srgbClr val="E6E7FE"/>
                </a:solidFill>
                <a:latin typeface="Tahoma"/>
                <a:cs typeface="Tahoma"/>
              </a:rPr>
              <a:t>Mais</a:t>
            </a:r>
            <a:r>
              <a:rPr sz="1200" spc="-70" dirty="0">
                <a:solidFill>
                  <a:srgbClr val="E6E7FE"/>
                </a:solidFill>
                <a:latin typeface="Tahoma"/>
                <a:cs typeface="Tahoma"/>
              </a:rPr>
              <a:t> </a:t>
            </a:r>
            <a:r>
              <a:rPr sz="1200" spc="45" dirty="0">
                <a:solidFill>
                  <a:srgbClr val="E6E7FE"/>
                </a:solidFill>
                <a:latin typeface="Tahoma"/>
                <a:cs typeface="Tahoma"/>
              </a:rPr>
              <a:t>sobre </a:t>
            </a:r>
            <a:r>
              <a:rPr sz="1200" spc="-360" dirty="0">
                <a:solidFill>
                  <a:srgbClr val="E6E7FE"/>
                </a:solidFill>
                <a:latin typeface="Tahoma"/>
                <a:cs typeface="Tahoma"/>
              </a:rPr>
              <a:t> </a:t>
            </a:r>
            <a:r>
              <a:rPr sz="1200" spc="60" dirty="0">
                <a:solidFill>
                  <a:srgbClr val="E6E7FE"/>
                </a:solidFill>
                <a:latin typeface="Tahoma"/>
                <a:cs typeface="Tahoma"/>
              </a:rPr>
              <a:t>Acessibilidade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631563" y="304800"/>
            <a:ext cx="5556885" cy="2292294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 algn="ctr">
              <a:spcBef>
                <a:spcPts val="595"/>
              </a:spcBef>
            </a:pPr>
            <a:r>
              <a:rPr lang="pt-BR" sz="2400" spc="25" dirty="0">
                <a:solidFill>
                  <a:schemeClr val="tx1"/>
                </a:solidFill>
              </a:rPr>
              <a:t>A COMUNICAÇÃO É UMA </a:t>
            </a:r>
            <a:r>
              <a:rPr lang="pt-BR" sz="2400" spc="25" dirty="0">
                <a:solidFill>
                  <a:schemeClr val="tx1"/>
                </a:solidFill>
                <a:latin typeface="Comic Sans MS" panose="030F0702030302020204" pitchFamily="66" charset="0"/>
              </a:rPr>
              <a:t>CARACTERÍSTICA MARCANTE DA RAÇA HUMANA – PRIVAR O SER HUMANO DA COMUNCAÇÃO É ROUBAR UMA PARTE DA SUA HUMANIDADE.</a:t>
            </a:r>
            <a:endParaRPr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5651" y="381000"/>
            <a:ext cx="5363210" cy="6099106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080" algn="ctr">
              <a:lnSpc>
                <a:spcPts val="2170"/>
              </a:lnSpc>
              <a:spcBef>
                <a:spcPts val="360"/>
              </a:spcBef>
            </a:pPr>
            <a:r>
              <a:rPr lang="pt-BR" sz="2000" b="1" spc="-170" dirty="0">
                <a:latin typeface="Comic Sans MS" panose="030F0702030302020204" pitchFamily="66" charset="0"/>
                <a:cs typeface="Verdana"/>
              </a:rPr>
              <a:t>R</a:t>
            </a:r>
            <a:r>
              <a:rPr lang="pt-BR" sz="2000" b="1" spc="-180" dirty="0">
                <a:latin typeface="Comic Sans MS" panose="030F0702030302020204" pitchFamily="66" charset="0"/>
                <a:cs typeface="Verdana"/>
              </a:rPr>
              <a:t>E</a:t>
            </a:r>
            <a:r>
              <a:rPr lang="pt-BR" sz="2000" b="1" spc="-160" dirty="0">
                <a:latin typeface="Comic Sans MS" panose="030F0702030302020204" pitchFamily="66" charset="0"/>
                <a:cs typeface="Verdana"/>
              </a:rPr>
              <a:t>G</a:t>
            </a:r>
            <a:r>
              <a:rPr lang="pt-BR" sz="2000" b="1" spc="-425" dirty="0">
                <a:latin typeface="Comic Sans MS" panose="030F0702030302020204" pitchFamily="66" charset="0"/>
                <a:cs typeface="Verdana"/>
              </a:rPr>
              <a:t>I</a:t>
            </a:r>
            <a:r>
              <a:rPr lang="pt-BR" sz="2000" b="1" spc="-150" dirty="0">
                <a:latin typeface="Comic Sans MS" panose="030F0702030302020204" pitchFamily="66" charset="0"/>
                <a:cs typeface="Verdana"/>
              </a:rPr>
              <a:t>S</a:t>
            </a:r>
            <a:r>
              <a:rPr lang="pt-BR" sz="2000" b="1" spc="-145" dirty="0">
                <a:latin typeface="Comic Sans MS" panose="030F0702030302020204" pitchFamily="66" charset="0"/>
                <a:cs typeface="Verdana"/>
              </a:rPr>
              <a:t>T</a:t>
            </a:r>
            <a:r>
              <a:rPr lang="pt-BR" sz="2000" b="1" spc="-170" dirty="0">
                <a:latin typeface="Comic Sans MS" panose="030F0702030302020204" pitchFamily="66" charset="0"/>
                <a:cs typeface="Verdana"/>
              </a:rPr>
              <a:t>R</a:t>
            </a:r>
            <a:r>
              <a:rPr lang="pt-BR" sz="2000" b="1" spc="-90" dirty="0">
                <a:latin typeface="Comic Sans MS" panose="030F0702030302020204" pitchFamily="66" charset="0"/>
                <a:cs typeface="Verdana"/>
              </a:rPr>
              <a:t>O</a:t>
            </a:r>
            <a:r>
              <a:rPr lang="pt-BR" sz="2000" b="1" spc="-200" dirty="0">
                <a:latin typeface="Comic Sans MS" panose="030F0702030302020204" pitchFamily="66" charset="0"/>
                <a:cs typeface="Verdana"/>
              </a:rPr>
              <a:t> </a:t>
            </a:r>
            <a:r>
              <a:rPr lang="pt-BR" sz="2000" b="1" spc="-155" dirty="0">
                <a:latin typeface="Comic Sans MS" panose="030F0702030302020204" pitchFamily="66" charset="0"/>
                <a:cs typeface="Verdana"/>
              </a:rPr>
              <a:t>D</a:t>
            </a:r>
            <a:r>
              <a:rPr lang="pt-BR" sz="2000" b="1" spc="-55" dirty="0">
                <a:latin typeface="Comic Sans MS" panose="030F0702030302020204" pitchFamily="66" charset="0"/>
                <a:cs typeface="Verdana"/>
              </a:rPr>
              <a:t>O  </a:t>
            </a:r>
            <a:r>
              <a:rPr lang="pt-BR" sz="2000" b="1" spc="-180" dirty="0">
                <a:latin typeface="Comic Sans MS" panose="030F0702030302020204" pitchFamily="66" charset="0"/>
                <a:cs typeface="Verdana"/>
              </a:rPr>
              <a:t>E</a:t>
            </a:r>
            <a:r>
              <a:rPr lang="pt-BR" sz="2000" b="1" spc="-185" dirty="0">
                <a:latin typeface="Comic Sans MS" panose="030F0702030302020204" pitchFamily="66" charset="0"/>
                <a:cs typeface="Verdana"/>
              </a:rPr>
              <a:t>X</a:t>
            </a:r>
            <a:r>
              <a:rPr lang="pt-BR" sz="2000" b="1" spc="-150" dirty="0">
                <a:latin typeface="Comic Sans MS" panose="030F0702030302020204" pitchFamily="66" charset="0"/>
                <a:cs typeface="Verdana"/>
              </a:rPr>
              <a:t>P</a:t>
            </a:r>
            <a:r>
              <a:rPr lang="pt-BR" sz="2000" b="1" spc="-180" dirty="0">
                <a:latin typeface="Comic Sans MS" panose="030F0702030302020204" pitchFamily="66" charset="0"/>
                <a:cs typeface="Verdana"/>
              </a:rPr>
              <a:t>E</a:t>
            </a:r>
            <a:r>
              <a:rPr lang="pt-BR" sz="2000" b="1" spc="-170" dirty="0">
                <a:latin typeface="Comic Sans MS" panose="030F0702030302020204" pitchFamily="66" charset="0"/>
                <a:cs typeface="Verdana"/>
              </a:rPr>
              <a:t>R</a:t>
            </a:r>
            <a:r>
              <a:rPr lang="pt-BR" sz="2000" b="1" spc="-425" dirty="0">
                <a:latin typeface="Comic Sans MS" panose="030F0702030302020204" pitchFamily="66" charset="0"/>
                <a:cs typeface="Verdana"/>
              </a:rPr>
              <a:t>I</a:t>
            </a:r>
            <a:r>
              <a:rPr lang="pt-BR" sz="2000" b="1" spc="-195" dirty="0">
                <a:latin typeface="Comic Sans MS" panose="030F0702030302020204" pitchFamily="66" charset="0"/>
                <a:cs typeface="Verdana"/>
              </a:rPr>
              <a:t>M</a:t>
            </a:r>
            <a:r>
              <a:rPr lang="pt-BR" sz="2000" b="1" spc="-180" dirty="0">
                <a:latin typeface="Comic Sans MS" panose="030F0702030302020204" pitchFamily="66" charset="0"/>
                <a:cs typeface="Verdana"/>
              </a:rPr>
              <a:t>E</a:t>
            </a:r>
            <a:r>
              <a:rPr lang="pt-BR" sz="2000" b="1" spc="-185" dirty="0">
                <a:latin typeface="Comic Sans MS" panose="030F0702030302020204" pitchFamily="66" charset="0"/>
                <a:cs typeface="Verdana"/>
              </a:rPr>
              <a:t>N</a:t>
            </a:r>
            <a:r>
              <a:rPr lang="pt-BR" sz="2000" b="1" spc="-145" dirty="0">
                <a:latin typeface="Comic Sans MS" panose="030F0702030302020204" pitchFamily="66" charset="0"/>
                <a:cs typeface="Verdana"/>
              </a:rPr>
              <a:t>T</a:t>
            </a:r>
            <a:r>
              <a:rPr lang="pt-BR" sz="2000" b="1" spc="-90" dirty="0">
                <a:latin typeface="Comic Sans MS" panose="030F0702030302020204" pitchFamily="66" charset="0"/>
                <a:cs typeface="Verdana"/>
              </a:rPr>
              <a:t>O</a:t>
            </a:r>
            <a:r>
              <a:rPr lang="pt-BR" sz="2000" b="1" spc="-200" dirty="0">
                <a:latin typeface="Comic Sans MS" panose="030F0702030302020204" pitchFamily="66" charset="0"/>
                <a:cs typeface="Verdana"/>
              </a:rPr>
              <a:t> </a:t>
            </a:r>
            <a:r>
              <a:rPr lang="pt-BR" sz="2000" b="1" spc="-170" dirty="0">
                <a:latin typeface="Comic Sans MS" panose="030F0702030302020204" pitchFamily="66" charset="0"/>
                <a:cs typeface="Verdana"/>
              </a:rPr>
              <a:t>R</a:t>
            </a:r>
            <a:r>
              <a:rPr lang="pt-BR" sz="2000" b="1" spc="-180" dirty="0">
                <a:latin typeface="Comic Sans MS" panose="030F0702030302020204" pitchFamily="66" charset="0"/>
                <a:cs typeface="Verdana"/>
              </a:rPr>
              <a:t>E</a:t>
            </a:r>
            <a:r>
              <a:rPr lang="pt-BR" sz="2000" b="1" spc="-95" dirty="0">
                <a:latin typeface="Comic Sans MS" panose="030F0702030302020204" pitchFamily="66" charset="0"/>
                <a:cs typeface="Verdana"/>
              </a:rPr>
              <a:t>A</a:t>
            </a:r>
            <a:r>
              <a:rPr lang="pt-BR" sz="2000" b="1" spc="-165" dirty="0">
                <a:latin typeface="Comic Sans MS" panose="030F0702030302020204" pitchFamily="66" charset="0"/>
                <a:cs typeface="Verdana"/>
              </a:rPr>
              <a:t>L</a:t>
            </a:r>
            <a:r>
              <a:rPr lang="pt-BR" sz="2000" b="1" spc="-425" dirty="0">
                <a:latin typeface="Comic Sans MS" panose="030F0702030302020204" pitchFamily="66" charset="0"/>
                <a:cs typeface="Verdana"/>
              </a:rPr>
              <a:t>I</a:t>
            </a:r>
            <a:r>
              <a:rPr lang="pt-BR" sz="2000" b="1" spc="-175" dirty="0">
                <a:latin typeface="Comic Sans MS" panose="030F0702030302020204" pitchFamily="66" charset="0"/>
                <a:cs typeface="Verdana"/>
              </a:rPr>
              <a:t>Z</a:t>
            </a:r>
            <a:r>
              <a:rPr lang="pt-BR" sz="2000" b="1" spc="-95" dirty="0">
                <a:latin typeface="Comic Sans MS" panose="030F0702030302020204" pitchFamily="66" charset="0"/>
                <a:cs typeface="Verdana"/>
              </a:rPr>
              <a:t>A</a:t>
            </a:r>
            <a:r>
              <a:rPr lang="pt-BR" sz="2000" b="1" spc="-155" dirty="0">
                <a:latin typeface="Comic Sans MS" panose="030F0702030302020204" pitchFamily="66" charset="0"/>
                <a:cs typeface="Verdana"/>
              </a:rPr>
              <a:t>D</a:t>
            </a:r>
            <a:r>
              <a:rPr lang="pt-BR" sz="2000" b="1" spc="-145" dirty="0">
                <a:latin typeface="Comic Sans MS" panose="030F0702030302020204" pitchFamily="66" charset="0"/>
                <a:cs typeface="Verdana"/>
              </a:rPr>
              <a:t>O</a:t>
            </a:r>
            <a:endParaRPr lang="pt-BR" sz="2000" b="1" spc="-155" dirty="0">
              <a:latin typeface="Comic Sans MS" panose="030F0702030302020204" pitchFamily="66" charset="0"/>
              <a:cs typeface="Verdana"/>
            </a:endParaRPr>
          </a:p>
          <a:p>
            <a:pPr marL="12700" marR="5080">
              <a:lnSpc>
                <a:spcPts val="2170"/>
              </a:lnSpc>
              <a:spcBef>
                <a:spcPts val="360"/>
              </a:spcBef>
            </a:pPr>
            <a:endParaRPr lang="pt-BR" sz="2000" dirty="0">
              <a:latin typeface="Comic Sans MS" panose="030F0702030302020204" pitchFamily="66" charset="0"/>
              <a:cs typeface="Tahoma"/>
            </a:endParaRPr>
          </a:p>
          <a:p>
            <a:pPr marL="12700" marR="5080">
              <a:lnSpc>
                <a:spcPts val="2170"/>
              </a:lnSpc>
              <a:spcBef>
                <a:spcPts val="360"/>
              </a:spcBef>
            </a:pPr>
            <a:r>
              <a:rPr lang="pt-BR" sz="2000" dirty="0">
                <a:latin typeface="Comic Sans MS" panose="030F0702030302020204" pitchFamily="66" charset="0"/>
                <a:cs typeface="Tahoma"/>
              </a:rPr>
              <a:t>POSSO DIZER QUE A PRIVAÇÃO DA AUDIÇÃO É ANGUSTIANTE E LEVA A UM ESTADO DE SOLIDÃO E RETRAÇÃO.</a:t>
            </a:r>
          </a:p>
          <a:p>
            <a:pPr marL="12700" marR="5080">
              <a:lnSpc>
                <a:spcPts val="2170"/>
              </a:lnSpc>
              <a:spcBef>
                <a:spcPts val="360"/>
              </a:spcBef>
            </a:pPr>
            <a:r>
              <a:rPr lang="pt-BR" sz="2000" dirty="0">
                <a:latin typeface="Comic Sans MS" panose="030F0702030302020204" pitchFamily="66" charset="0"/>
                <a:cs typeface="Tahoma"/>
              </a:rPr>
              <a:t>NOS PRIMEIROS MOMENTO MINHA MULHER E FILHOS INTERAGIAM DE FORMA DIVERTIDA, MAS COM O PASSAR DO TEMPO ELES PERDIAM A PACIÊNCIA E EU TAMBÉM COMECEI A FICAR IRRITADO. PREFERINDO PASSAR O TEMPO LENDO OU NO CELULAR.</a:t>
            </a:r>
          </a:p>
          <a:p>
            <a:pPr marL="12700" marR="5080">
              <a:lnSpc>
                <a:spcPts val="2170"/>
              </a:lnSpc>
              <a:spcBef>
                <a:spcPts val="360"/>
              </a:spcBef>
            </a:pPr>
            <a:r>
              <a:rPr lang="pt-BR" sz="2000" dirty="0">
                <a:latin typeface="Comic Sans MS" panose="030F0702030302020204" pitchFamily="66" charset="0"/>
                <a:cs typeface="Tahoma"/>
              </a:rPr>
              <a:t>QUANDO ME AVENTUREI NAS VIZINHAÇAS, FORA DA MINHA CASA SENTI MUITA INSEGURAÇA. A PRIVAÇÃO DA AUDIÇÃO ME DEU UMA SENSAÇÃO DE PÂNICO.</a:t>
            </a:r>
          </a:p>
          <a:p>
            <a:pPr marL="12700" marR="5080">
              <a:lnSpc>
                <a:spcPts val="2170"/>
              </a:lnSpc>
              <a:spcBef>
                <a:spcPts val="360"/>
              </a:spcBef>
            </a:pPr>
            <a:endParaRPr lang="pt-BR" sz="2000" dirty="0">
              <a:latin typeface="Comic Sans MS" panose="030F0702030302020204" pitchFamily="66" charset="0"/>
              <a:cs typeface="Tahoma"/>
            </a:endParaRPr>
          </a:p>
          <a:p>
            <a:pPr marL="12700" marR="5080" algn="ctr">
              <a:lnSpc>
                <a:spcPts val="2170"/>
              </a:lnSpc>
              <a:spcBef>
                <a:spcPts val="360"/>
              </a:spcBef>
            </a:pPr>
            <a:r>
              <a:rPr lang="pt-BR" sz="2000" dirty="0">
                <a:latin typeface="Comic Sans MS" panose="030F0702030302020204" pitchFamily="66" charset="0"/>
                <a:cs typeface="Tahoma"/>
              </a:rPr>
              <a:t>INCLUSÃO É ACIMA DE TUDO SENTIR AS LIMITAÇÕES DO SEU PROXIMO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C20F565-7490-4C69-9736-C84FEF4C893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80" b="8478"/>
          <a:stretch/>
        </p:blipFill>
        <p:spPr>
          <a:xfrm>
            <a:off x="6109781" y="2879041"/>
            <a:ext cx="6600448" cy="39226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2262477" y="74240"/>
            <a:ext cx="142052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ahoma"/>
                <a:cs typeface="Tahoma"/>
              </a:rPr>
              <a:t>Inclusão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4850" y="5766470"/>
            <a:ext cx="11449050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pt-BR" sz="4000" b="0" i="0" dirty="0">
                <a:solidFill>
                  <a:srgbClr val="001D35"/>
                </a:solidFill>
                <a:effectLst/>
                <a:latin typeface="Google Sans"/>
              </a:rPr>
              <a:t>"</a:t>
            </a:r>
            <a:r>
              <a:rPr lang="pt-BR" sz="4000" b="1" i="0" dirty="0">
                <a:solidFill>
                  <a:srgbClr val="001D35"/>
                </a:solidFill>
                <a:effectLst/>
                <a:latin typeface="Google Sans"/>
              </a:rPr>
              <a:t>A inclusão acontece quando se aprende com as diferenças e não com as igualdades".</a:t>
            </a:r>
            <a:endParaRPr sz="4000" b="1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59600" y="76200"/>
            <a:ext cx="5384165" cy="2021066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algn="l" rtl="0"/>
            <a:r>
              <a:rPr lang="pt-BR" sz="1600" b="1" i="0" dirty="0">
                <a:solidFill>
                  <a:srgbClr val="C7A232"/>
                </a:solidFill>
                <a:effectLst/>
                <a:latin typeface="Comic Sans MS" panose="030F0702030302020204" pitchFamily="66" charset="0"/>
              </a:rPr>
              <a:t>Dificuldades do Dia a Dia</a:t>
            </a:r>
          </a:p>
          <a:p>
            <a:pPr algn="l" rtl="0"/>
            <a:r>
              <a:rPr lang="pt-BR" sz="1600" b="0" i="0" dirty="0">
                <a:solidFill>
                  <a:srgbClr val="323E47"/>
                </a:solidFill>
                <a:effectLst/>
                <a:latin typeface="Comic Sans MS" panose="030F0702030302020204" pitchFamily="66" charset="0"/>
              </a:rPr>
              <a:t>No cotidiano, as dificuldades relacionadas à inclusão podem se manifestar de diversas formas. A falta de infraestrutura adequada, como rampas de acesso e materiais didáticos adaptados, ainda é uma realidade em muitas instituições. Além disso, a formação insuficiente de educadores e profissionais para lidar com a diversidade pode resultar em um ambiente excludente.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01344" y="410080"/>
            <a:ext cx="6001055" cy="5246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pt-BR" sz="1700" b="0" i="0" dirty="0">
                <a:solidFill>
                  <a:srgbClr val="323E47"/>
                </a:solidFill>
                <a:effectLst/>
                <a:latin typeface="Comic Sans MS" panose="030F0702030302020204" pitchFamily="66" charset="0"/>
              </a:rPr>
              <a:t>A inclusão é um tema cada vez mais presente na sociedade contemporânea, refletindo a importância de garantir que todos os indivíduos, independentemente de suas características e capacidades, tenham acesso a oportunidades iguais. Existem diferentes tipos de inclusão:</a:t>
            </a: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pt-BR" sz="1700" b="1" i="0" dirty="0">
                <a:effectLst/>
                <a:latin typeface="Comic Sans MS" panose="030F0702030302020204" pitchFamily="66" charset="0"/>
              </a:rPr>
              <a:t>Inclusão Educacional</a:t>
            </a:r>
            <a:r>
              <a:rPr lang="pt-BR" sz="1700" dirty="0">
                <a:solidFill>
                  <a:srgbClr val="323E47"/>
                </a:solidFill>
                <a:latin typeface="Comic Sans MS" panose="030F0702030302020204" pitchFamily="66" charset="0"/>
              </a:rPr>
              <a:t>: </a:t>
            </a:r>
            <a:r>
              <a:rPr lang="pt-BR" sz="1700" b="0" i="0" dirty="0">
                <a:solidFill>
                  <a:srgbClr val="323E47"/>
                </a:solidFill>
                <a:effectLst/>
                <a:latin typeface="Comic Sans MS" panose="030F0702030302020204" pitchFamily="66" charset="0"/>
              </a:rPr>
              <a:t>Refere-se à prática de integrar alunos com necessidades especiais em escolas regulares. </a:t>
            </a: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pt-BR" sz="1700" b="1" i="0" dirty="0">
                <a:effectLst/>
                <a:latin typeface="Comic Sans MS" panose="030F0702030302020204" pitchFamily="66" charset="0"/>
              </a:rPr>
              <a:t>Inclusão Social</a:t>
            </a:r>
            <a:r>
              <a:rPr lang="pt-BR" sz="1700" dirty="0">
                <a:solidFill>
                  <a:srgbClr val="323E47"/>
                </a:solidFill>
                <a:latin typeface="Comic Sans MS" panose="030F0702030302020204" pitchFamily="66" charset="0"/>
              </a:rPr>
              <a:t>: </a:t>
            </a:r>
            <a:r>
              <a:rPr lang="pt-BR" sz="1700" b="0" i="0" dirty="0">
                <a:solidFill>
                  <a:srgbClr val="323E47"/>
                </a:solidFill>
                <a:effectLst/>
                <a:latin typeface="Comic Sans MS" panose="030F0702030302020204" pitchFamily="66" charset="0"/>
              </a:rPr>
              <a:t>Diz respeito à participação plena de todos os indivíduos na sociedade, incluindo aqueles em situação de vulnerabilidade. </a:t>
            </a: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pt-BR" sz="1700" b="1" i="0" dirty="0">
                <a:solidFill>
                  <a:srgbClr val="323E47"/>
                </a:solidFill>
                <a:effectLst/>
                <a:latin typeface="Comic Sans MS" panose="030F0702030302020204" pitchFamily="66" charset="0"/>
              </a:rPr>
              <a:t>Inclusão Digital</a:t>
            </a:r>
            <a:r>
              <a:rPr lang="pt-BR" sz="1700" dirty="0">
                <a:solidFill>
                  <a:srgbClr val="323E47"/>
                </a:solidFill>
                <a:latin typeface="Comic Sans MS" panose="030F0702030302020204" pitchFamily="66" charset="0"/>
              </a:rPr>
              <a:t>: </a:t>
            </a:r>
            <a:r>
              <a:rPr lang="pt-BR" sz="1700" b="0" i="0" dirty="0">
                <a:solidFill>
                  <a:srgbClr val="323E47"/>
                </a:solidFill>
                <a:effectLst/>
                <a:latin typeface="Comic Sans MS" panose="030F0702030302020204" pitchFamily="66" charset="0"/>
              </a:rPr>
              <a:t>Com o avanço da tecnologia, a inclusão digital se tornou essencial. No entanto, muitas comunidades ainda carecem de acesso à internet e a dispositivos tecnológicos, o que limita a inclusão no mundo digital.</a:t>
            </a:r>
          </a:p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lang="pt-BR" sz="1700" b="1" i="0" dirty="0">
                <a:effectLst/>
                <a:latin typeface="Comic Sans MS" panose="030F0702030302020204" pitchFamily="66" charset="0"/>
              </a:rPr>
              <a:t>Inclusão no Mercado de Trabalho</a:t>
            </a:r>
            <a:r>
              <a:rPr lang="pt-BR" sz="1700" dirty="0">
                <a:solidFill>
                  <a:srgbClr val="323E47"/>
                </a:solidFill>
                <a:latin typeface="Comic Sans MS" panose="030F0702030302020204" pitchFamily="66" charset="0"/>
              </a:rPr>
              <a:t>: </a:t>
            </a:r>
            <a:r>
              <a:rPr lang="pt-BR" sz="1700" b="0" i="0" dirty="0">
                <a:solidFill>
                  <a:srgbClr val="323E47"/>
                </a:solidFill>
                <a:effectLst/>
                <a:latin typeface="Comic Sans MS" panose="030F0702030302020204" pitchFamily="66" charset="0"/>
              </a:rPr>
              <a:t>A inclusão profissional é vital para garantir que pessoas com deficiência ou de grupos minoritários tenham oportunidades de emprego.</a:t>
            </a:r>
            <a:endParaRPr lang="pt-BR" sz="1700" dirty="0">
              <a:latin typeface="Comic Sans MS" panose="030F0702030302020204" pitchFamily="66" charset="0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70101" y="5152906"/>
            <a:ext cx="698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200" dirty="0">
                <a:solidFill>
                  <a:srgbClr val="6E294B"/>
                </a:solidFill>
                <a:latin typeface="Verdana"/>
                <a:cs typeface="Verdana"/>
              </a:rPr>
              <a:t>.</a:t>
            </a:r>
            <a:endParaRPr sz="1500">
              <a:latin typeface="Verdana"/>
              <a:cs typeface="Verdana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F9FEB43C-2B04-4980-9629-11750FCD173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58" r="2828" b="26087"/>
          <a:stretch/>
        </p:blipFill>
        <p:spPr>
          <a:xfrm>
            <a:off x="7000710" y="2088076"/>
            <a:ext cx="5445290" cy="36269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330200" y="6001696"/>
            <a:ext cx="12268200" cy="10383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1600" b="1" spc="-50" dirty="0">
                <a:solidFill>
                  <a:srgbClr val="C7A232"/>
                </a:solidFill>
                <a:latin typeface="Comic Sans MS" panose="030F0702030302020204" pitchFamily="66" charset="0"/>
                <a:cs typeface="Tahoma"/>
              </a:rPr>
              <a:t>Escreva</a:t>
            </a:r>
            <a:r>
              <a:rPr sz="1600" b="1" spc="-35" dirty="0">
                <a:solidFill>
                  <a:srgbClr val="C7A232"/>
                </a:solidFill>
                <a:latin typeface="Comic Sans MS" panose="030F0702030302020204" pitchFamily="66" charset="0"/>
                <a:cs typeface="Tahoma"/>
              </a:rPr>
              <a:t> </a:t>
            </a:r>
            <a:r>
              <a:rPr sz="1600" b="1" spc="-60" dirty="0">
                <a:solidFill>
                  <a:srgbClr val="C7A232"/>
                </a:solidFill>
                <a:latin typeface="Comic Sans MS" panose="030F0702030302020204" pitchFamily="66" charset="0"/>
                <a:cs typeface="Tahoma"/>
              </a:rPr>
              <a:t>sobre</a:t>
            </a:r>
            <a:r>
              <a:rPr sz="1600" b="1" spc="-35" dirty="0">
                <a:solidFill>
                  <a:srgbClr val="C7A232"/>
                </a:solidFill>
                <a:latin typeface="Comic Sans MS" panose="030F0702030302020204" pitchFamily="66" charset="0"/>
                <a:cs typeface="Tahoma"/>
              </a:rPr>
              <a:t> </a:t>
            </a:r>
            <a:r>
              <a:rPr sz="1600" b="1" spc="-55" dirty="0">
                <a:solidFill>
                  <a:srgbClr val="C7A232"/>
                </a:solidFill>
                <a:latin typeface="Comic Sans MS" panose="030F0702030302020204" pitchFamily="66" charset="0"/>
                <a:cs typeface="Tahoma"/>
              </a:rPr>
              <a:t>algum</a:t>
            </a:r>
            <a:r>
              <a:rPr sz="1600" b="1" spc="-35" dirty="0">
                <a:solidFill>
                  <a:srgbClr val="C7A232"/>
                </a:solidFill>
                <a:latin typeface="Comic Sans MS" panose="030F0702030302020204" pitchFamily="66" charset="0"/>
                <a:cs typeface="Tahoma"/>
              </a:rPr>
              <a:t> </a:t>
            </a:r>
            <a:r>
              <a:rPr sz="1600" b="1" spc="-85" dirty="0">
                <a:solidFill>
                  <a:srgbClr val="C7A232"/>
                </a:solidFill>
                <a:latin typeface="Comic Sans MS" panose="030F0702030302020204" pitchFamily="66" charset="0"/>
                <a:cs typeface="Tahoma"/>
              </a:rPr>
              <a:t>momento</a:t>
            </a:r>
            <a:r>
              <a:rPr sz="1600" b="1" spc="-35" dirty="0">
                <a:solidFill>
                  <a:srgbClr val="C7A232"/>
                </a:solidFill>
                <a:latin typeface="Comic Sans MS" panose="030F0702030302020204" pitchFamily="66" charset="0"/>
                <a:cs typeface="Tahoma"/>
              </a:rPr>
              <a:t> </a:t>
            </a:r>
            <a:r>
              <a:rPr sz="1600" b="1" spc="-75" dirty="0">
                <a:solidFill>
                  <a:srgbClr val="C7A232"/>
                </a:solidFill>
                <a:latin typeface="Comic Sans MS" panose="030F0702030302020204" pitchFamily="66" charset="0"/>
                <a:cs typeface="Tahoma"/>
              </a:rPr>
              <a:t>que</a:t>
            </a:r>
            <a:r>
              <a:rPr sz="1600" b="1" spc="-35" dirty="0">
                <a:solidFill>
                  <a:srgbClr val="C7A232"/>
                </a:solidFill>
                <a:latin typeface="Comic Sans MS" panose="030F0702030302020204" pitchFamily="66" charset="0"/>
                <a:cs typeface="Tahoma"/>
              </a:rPr>
              <a:t> </a:t>
            </a:r>
            <a:r>
              <a:rPr sz="1600" b="1" spc="-70" dirty="0">
                <a:solidFill>
                  <a:srgbClr val="C7A232"/>
                </a:solidFill>
                <a:latin typeface="Comic Sans MS" panose="030F0702030302020204" pitchFamily="66" charset="0"/>
                <a:cs typeface="Tahoma"/>
              </a:rPr>
              <a:t>você</a:t>
            </a:r>
            <a:r>
              <a:rPr sz="1600" b="1" spc="-35" dirty="0">
                <a:solidFill>
                  <a:srgbClr val="C7A232"/>
                </a:solidFill>
                <a:latin typeface="Comic Sans MS" panose="030F0702030302020204" pitchFamily="66" charset="0"/>
                <a:cs typeface="Tahoma"/>
              </a:rPr>
              <a:t> </a:t>
            </a:r>
            <a:r>
              <a:rPr sz="1600" b="1" spc="-90" dirty="0">
                <a:solidFill>
                  <a:srgbClr val="C7A232"/>
                </a:solidFill>
                <a:latin typeface="Comic Sans MS" panose="030F0702030302020204" pitchFamily="66" charset="0"/>
                <a:cs typeface="Tahoma"/>
              </a:rPr>
              <a:t>já</a:t>
            </a:r>
            <a:r>
              <a:rPr sz="1600" b="1" spc="-35" dirty="0">
                <a:solidFill>
                  <a:srgbClr val="C7A232"/>
                </a:solidFill>
                <a:latin typeface="Comic Sans MS" panose="030F0702030302020204" pitchFamily="66" charset="0"/>
                <a:cs typeface="Tahoma"/>
              </a:rPr>
              <a:t> </a:t>
            </a:r>
            <a:r>
              <a:rPr sz="1600" b="1" spc="-80" dirty="0">
                <a:solidFill>
                  <a:srgbClr val="C7A232"/>
                </a:solidFill>
                <a:latin typeface="Comic Sans MS" panose="030F0702030302020204" pitchFamily="66" charset="0"/>
                <a:cs typeface="Tahoma"/>
              </a:rPr>
              <a:t>vivenciou</a:t>
            </a:r>
            <a:r>
              <a:rPr sz="1600" b="1" spc="-35" dirty="0">
                <a:solidFill>
                  <a:srgbClr val="C7A232"/>
                </a:solidFill>
                <a:latin typeface="Comic Sans MS" panose="030F0702030302020204" pitchFamily="66" charset="0"/>
                <a:cs typeface="Tahoma"/>
              </a:rPr>
              <a:t> </a:t>
            </a:r>
            <a:r>
              <a:rPr sz="1600" b="1" spc="-55" dirty="0">
                <a:solidFill>
                  <a:srgbClr val="C7A232"/>
                </a:solidFill>
                <a:latin typeface="Comic Sans MS" panose="030F0702030302020204" pitchFamily="66" charset="0"/>
                <a:cs typeface="Tahoma"/>
              </a:rPr>
              <a:t>uma</a:t>
            </a:r>
            <a:r>
              <a:rPr sz="1600" b="1" spc="-35" dirty="0">
                <a:solidFill>
                  <a:srgbClr val="C7A232"/>
                </a:solidFill>
                <a:latin typeface="Comic Sans MS" panose="030F0702030302020204" pitchFamily="66" charset="0"/>
                <a:cs typeface="Tahoma"/>
              </a:rPr>
              <a:t> </a:t>
            </a:r>
            <a:r>
              <a:rPr sz="1600" b="1" spc="-65" dirty="0">
                <a:solidFill>
                  <a:srgbClr val="C7A232"/>
                </a:solidFill>
                <a:latin typeface="Comic Sans MS" panose="030F0702030302020204" pitchFamily="66" charset="0"/>
                <a:cs typeface="Tahoma"/>
              </a:rPr>
              <a:t>exclusão</a:t>
            </a:r>
            <a:r>
              <a:rPr sz="1600" b="1" spc="-35" dirty="0">
                <a:solidFill>
                  <a:srgbClr val="C7A232"/>
                </a:solidFill>
                <a:latin typeface="Comic Sans MS" panose="030F0702030302020204" pitchFamily="66" charset="0"/>
                <a:cs typeface="Tahoma"/>
              </a:rPr>
              <a:t> </a:t>
            </a:r>
            <a:r>
              <a:rPr sz="1600" b="1" spc="-75" dirty="0">
                <a:solidFill>
                  <a:srgbClr val="C7A232"/>
                </a:solidFill>
                <a:latin typeface="Comic Sans MS" panose="030F0702030302020204" pitchFamily="66" charset="0"/>
                <a:cs typeface="Tahoma"/>
              </a:rPr>
              <a:t>ou</a:t>
            </a:r>
            <a:r>
              <a:rPr sz="1600" b="1" spc="-35" dirty="0">
                <a:solidFill>
                  <a:srgbClr val="C7A232"/>
                </a:solidFill>
                <a:latin typeface="Comic Sans MS" panose="030F0702030302020204" pitchFamily="66" charset="0"/>
                <a:cs typeface="Tahoma"/>
              </a:rPr>
              <a:t> </a:t>
            </a:r>
            <a:r>
              <a:rPr sz="1600" b="1" spc="-25" dirty="0">
                <a:solidFill>
                  <a:srgbClr val="C7A232"/>
                </a:solidFill>
                <a:latin typeface="Comic Sans MS" panose="030F0702030302020204" pitchFamily="66" charset="0"/>
                <a:cs typeface="Tahoma"/>
              </a:rPr>
              <a:t>falta</a:t>
            </a:r>
            <a:r>
              <a:rPr sz="1600" b="1" spc="-35" dirty="0">
                <a:solidFill>
                  <a:srgbClr val="C7A232"/>
                </a:solidFill>
                <a:latin typeface="Comic Sans MS" panose="030F0702030302020204" pitchFamily="66" charset="0"/>
                <a:cs typeface="Tahoma"/>
              </a:rPr>
              <a:t> </a:t>
            </a:r>
            <a:r>
              <a:rPr sz="1600" b="1" spc="-60" dirty="0">
                <a:solidFill>
                  <a:srgbClr val="C7A232"/>
                </a:solidFill>
                <a:latin typeface="Comic Sans MS" panose="030F0702030302020204" pitchFamily="66" charset="0"/>
                <a:cs typeface="Tahoma"/>
              </a:rPr>
              <a:t>de </a:t>
            </a:r>
            <a:r>
              <a:rPr sz="1600" b="1" spc="-605" dirty="0">
                <a:solidFill>
                  <a:srgbClr val="C7A232"/>
                </a:solidFill>
                <a:latin typeface="Comic Sans MS" panose="030F0702030302020204" pitchFamily="66" charset="0"/>
                <a:cs typeface="Tahoma"/>
              </a:rPr>
              <a:t> </a:t>
            </a:r>
            <a:r>
              <a:rPr sz="1600" b="1" spc="-45" dirty="0">
                <a:solidFill>
                  <a:srgbClr val="C7A232"/>
                </a:solidFill>
                <a:latin typeface="Comic Sans MS" panose="030F0702030302020204" pitchFamily="66" charset="0"/>
                <a:cs typeface="Tahoma"/>
              </a:rPr>
              <a:t>acessibilidade </a:t>
            </a:r>
            <a:r>
              <a:rPr sz="1600" b="1" spc="-100" dirty="0">
                <a:solidFill>
                  <a:srgbClr val="C7A232"/>
                </a:solidFill>
                <a:latin typeface="Comic Sans MS" panose="030F0702030302020204" pitchFamily="66" charset="0"/>
                <a:cs typeface="Tahoma"/>
              </a:rPr>
              <a:t>e</a:t>
            </a:r>
            <a:r>
              <a:rPr sz="1600" b="1" spc="-40" dirty="0">
                <a:solidFill>
                  <a:srgbClr val="C7A232"/>
                </a:solidFill>
                <a:latin typeface="Comic Sans MS" panose="030F0702030302020204" pitchFamily="66" charset="0"/>
                <a:cs typeface="Tahoma"/>
              </a:rPr>
              <a:t> </a:t>
            </a:r>
            <a:r>
              <a:rPr sz="1600" b="1" spc="-70" dirty="0">
                <a:solidFill>
                  <a:srgbClr val="C7A232"/>
                </a:solidFill>
                <a:latin typeface="Comic Sans MS" panose="030F0702030302020204" pitchFamily="66" charset="0"/>
                <a:cs typeface="Tahoma"/>
              </a:rPr>
              <a:t>como</a:t>
            </a:r>
            <a:r>
              <a:rPr sz="1600" b="1" spc="-40" dirty="0">
                <a:solidFill>
                  <a:srgbClr val="C7A232"/>
                </a:solidFill>
                <a:latin typeface="Comic Sans MS" panose="030F0702030302020204" pitchFamily="66" charset="0"/>
                <a:cs typeface="Tahoma"/>
              </a:rPr>
              <a:t> </a:t>
            </a:r>
            <a:r>
              <a:rPr sz="1600" b="1" spc="-50" dirty="0">
                <a:solidFill>
                  <a:srgbClr val="C7A232"/>
                </a:solidFill>
                <a:latin typeface="Comic Sans MS" panose="030F0702030302020204" pitchFamily="66" charset="0"/>
                <a:cs typeface="Tahoma"/>
              </a:rPr>
              <a:t>isso</a:t>
            </a:r>
            <a:r>
              <a:rPr sz="1600" b="1" spc="-40" dirty="0">
                <a:solidFill>
                  <a:srgbClr val="C7A232"/>
                </a:solidFill>
                <a:latin typeface="Comic Sans MS" panose="030F0702030302020204" pitchFamily="66" charset="0"/>
                <a:cs typeface="Tahoma"/>
              </a:rPr>
              <a:t> </a:t>
            </a:r>
            <a:r>
              <a:rPr sz="1600" b="1" spc="-55" dirty="0">
                <a:solidFill>
                  <a:srgbClr val="C7A232"/>
                </a:solidFill>
                <a:latin typeface="Comic Sans MS" panose="030F0702030302020204" pitchFamily="66" charset="0"/>
                <a:cs typeface="Tahoma"/>
              </a:rPr>
              <a:t>afetou</a:t>
            </a:r>
            <a:r>
              <a:rPr sz="1600" b="1" spc="-40" dirty="0">
                <a:solidFill>
                  <a:srgbClr val="C7A232"/>
                </a:solidFill>
                <a:latin typeface="Comic Sans MS" panose="030F0702030302020204" pitchFamily="66" charset="0"/>
                <a:cs typeface="Tahoma"/>
              </a:rPr>
              <a:t> </a:t>
            </a:r>
            <a:r>
              <a:rPr sz="1600" b="1" spc="-85" dirty="0" err="1">
                <a:solidFill>
                  <a:srgbClr val="C7A232"/>
                </a:solidFill>
                <a:latin typeface="Comic Sans MS" panose="030F0702030302020204" pitchFamily="66" charset="0"/>
                <a:cs typeface="Tahoma"/>
              </a:rPr>
              <a:t>você</a:t>
            </a:r>
            <a:r>
              <a:rPr sz="1600" b="1" spc="-85" dirty="0">
                <a:solidFill>
                  <a:srgbClr val="C7A232"/>
                </a:solidFill>
                <a:latin typeface="Comic Sans MS" panose="030F0702030302020204" pitchFamily="66" charset="0"/>
                <a:cs typeface="Tahoma"/>
              </a:rPr>
              <a:t>.</a:t>
            </a:r>
            <a:endParaRPr lang="pt-BR" sz="1600" b="1" spc="-85" dirty="0">
              <a:solidFill>
                <a:srgbClr val="C7A232"/>
              </a:solidFill>
              <a:latin typeface="Comic Sans MS" panose="030F0702030302020204" pitchFamily="66" charset="0"/>
              <a:cs typeface="Tahoma"/>
            </a:endParaRPr>
          </a:p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lang="pt-BR" sz="2100" spc="-85" dirty="0">
                <a:latin typeface="Comic Sans MS" panose="030F0702030302020204" pitchFamily="66" charset="0"/>
                <a:cs typeface="Tahoma"/>
              </a:rPr>
              <a:t>Quando quebrei o meu óculos e passei 3 dias  esperando outro óculos. Sensação de incapacidade é terrível. Não podia ler, dirigir e a dependência para fazer coisas simples era terrível</a:t>
            </a:r>
            <a:r>
              <a:rPr lang="pt-BR" sz="2100" b="1" spc="-85" dirty="0">
                <a:latin typeface="Comic Sans MS" panose="030F0702030302020204" pitchFamily="66" charset="0"/>
                <a:cs typeface="Tahoma"/>
              </a:rPr>
              <a:t>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title" idx="4294967295"/>
          </p:nvPr>
        </p:nvSpPr>
        <p:spPr>
          <a:xfrm>
            <a:off x="590550" y="176213"/>
            <a:ext cx="12414250" cy="5876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 rtl="0"/>
            <a:r>
              <a:rPr lang="pt-BR" sz="2000" b="1" dirty="0">
                <a:solidFill>
                  <a:srgbClr val="6E294B"/>
                </a:solidFill>
                <a:latin typeface="Comic Sans MS" panose="030F0702030302020204" pitchFamily="66" charset="0"/>
              </a:rPr>
              <a:t>                                                </a:t>
            </a:r>
            <a:r>
              <a:rPr lang="pt-BR" sz="2000" b="1" dirty="0">
                <a:solidFill>
                  <a:schemeClr val="tx1"/>
                </a:solidFill>
                <a:latin typeface="Comic Sans MS" panose="030F0702030302020204" pitchFamily="66" charset="0"/>
              </a:rPr>
              <a:t>Inclusão &amp;  Acessibilidade</a:t>
            </a:r>
            <a:br>
              <a:rPr lang="pt-BR" sz="2000" b="1" i="0" dirty="0">
                <a:solidFill>
                  <a:srgbClr val="C7A232"/>
                </a:solidFill>
                <a:effectLst/>
                <a:latin typeface="Comic Sans MS" panose="030F0702030302020204" pitchFamily="66" charset="0"/>
              </a:rPr>
            </a:br>
            <a:r>
              <a:rPr lang="pt-BR" sz="2000" b="1" i="0" dirty="0">
                <a:solidFill>
                  <a:srgbClr val="C7A232"/>
                </a:solidFill>
                <a:effectLst/>
                <a:latin typeface="Comic Sans MS" panose="030F0702030302020204" pitchFamily="66" charset="0"/>
              </a:rPr>
              <a:t>O Impacto na Vida das Pessoas</a:t>
            </a:r>
            <a:br>
              <a:rPr lang="pt-BR" sz="2000" b="1" i="0" dirty="0">
                <a:solidFill>
                  <a:srgbClr val="C7A232"/>
                </a:solidFill>
                <a:effectLst/>
                <a:latin typeface="Comic Sans MS" panose="030F0702030302020204" pitchFamily="66" charset="0"/>
              </a:rPr>
            </a:br>
            <a:r>
              <a:rPr lang="pt-BR" sz="2000" b="0" i="0" dirty="0"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A implementação de ações inclusivas e acessíveis pode mudar vidas de maneira significativa. Por exemplo, estudantes com deficiência que têm acesso a recursos adequados conseguem se desenvolver academicamente e socialmente, o que aumenta suas chances de sucesso no futuro. Além disso, a inclusão no ambiente escolar promove empatia e compreensão entre os alunos, preparando-os para conviver em uma sociedade mais justa e igualitária.</a:t>
            </a:r>
            <a:br>
              <a:rPr lang="pt-BR" sz="2000" b="0" i="0" dirty="0">
                <a:solidFill>
                  <a:srgbClr val="323E47"/>
                </a:solidFill>
                <a:effectLst/>
                <a:latin typeface="Comic Sans MS" panose="030F0702030302020204" pitchFamily="66" charset="0"/>
              </a:rPr>
            </a:br>
            <a:r>
              <a:rPr lang="pt-BR" sz="2000" b="1" i="0" dirty="0">
                <a:solidFill>
                  <a:srgbClr val="C7A232"/>
                </a:solidFill>
                <a:effectLst/>
                <a:latin typeface="Comic Sans MS" panose="030F0702030302020204" pitchFamily="66" charset="0"/>
              </a:rPr>
              <a:t>Exemplos de Ações de Inclusão e Acessibilidade</a:t>
            </a:r>
            <a:br>
              <a:rPr lang="pt-BR" sz="2000" b="1" i="0" dirty="0">
                <a:solidFill>
                  <a:srgbClr val="C7A232"/>
                </a:solidFill>
                <a:effectLst/>
                <a:latin typeface="Comic Sans MS" panose="030F0702030302020204" pitchFamily="66" charset="0"/>
              </a:rPr>
            </a:br>
            <a:r>
              <a:rPr lang="pt-BR" sz="2000" b="1" i="0" dirty="0"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Adaptações Curriculares</a:t>
            </a:r>
            <a:r>
              <a:rPr lang="pt-BR" sz="2000" b="0" i="0" dirty="0"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: Modificações no currículo para atender às necessidades de todos os alunos.</a:t>
            </a:r>
            <a:br>
              <a:rPr lang="pt-BR" sz="2000" b="0" i="0" dirty="0"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</a:br>
            <a:r>
              <a:rPr lang="pt-BR" sz="2000" b="1" i="0" dirty="0"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Formação de Professores</a:t>
            </a:r>
            <a:r>
              <a:rPr lang="pt-BR" sz="2000" b="0" i="0" dirty="0"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: Capacitação de educadores para lidar com a diversidade em sala de aula.</a:t>
            </a:r>
            <a:br>
              <a:rPr lang="pt-BR" sz="2000" b="0" i="0" dirty="0"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</a:br>
            <a:r>
              <a:rPr lang="pt-BR" sz="2000" b="1" i="0" dirty="0"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Infraestrutura Acessível</a:t>
            </a:r>
            <a:r>
              <a:rPr lang="pt-BR" sz="2000" b="0" i="0" dirty="0"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: Garantir que escolas e instituições públicas tenham acessibilidade adequada.</a:t>
            </a:r>
            <a:br>
              <a:rPr lang="pt-BR" sz="2000" b="0" i="0" dirty="0"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</a:br>
            <a:r>
              <a:rPr lang="pt-BR" sz="2000" b="1" i="0" dirty="0"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Tecnologia Assistiva</a:t>
            </a:r>
            <a:r>
              <a:rPr lang="pt-BR" sz="2000" b="0" i="0" dirty="0"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: Uso de dispositivos e softwares que ajudam pessoas com deficiência a aprender e se comunicar.</a:t>
            </a:r>
            <a:br>
              <a:rPr lang="pt-BR" sz="2000" b="0" i="0" dirty="0">
                <a:solidFill>
                  <a:srgbClr val="323E47"/>
                </a:solidFill>
                <a:effectLst/>
                <a:latin typeface="Comic Sans MS" panose="030F0702030302020204" pitchFamily="66" charset="0"/>
              </a:rPr>
            </a:br>
            <a:r>
              <a:rPr lang="pt-BR" sz="2000" b="1" i="0" dirty="0">
                <a:solidFill>
                  <a:srgbClr val="C7A232"/>
                </a:solidFill>
                <a:effectLst/>
                <a:latin typeface="Comic Sans MS" panose="030F0702030302020204" pitchFamily="66" charset="0"/>
              </a:rPr>
              <a:t>Conclusão</a:t>
            </a:r>
            <a:br>
              <a:rPr lang="pt-BR" sz="2000" b="1" i="0" dirty="0">
                <a:solidFill>
                  <a:srgbClr val="C7A232"/>
                </a:solidFill>
                <a:effectLst/>
                <a:latin typeface="Comic Sans MS" panose="030F0702030302020204" pitchFamily="66" charset="0"/>
              </a:rPr>
            </a:br>
            <a:r>
              <a:rPr lang="pt-BR" sz="2000" b="0" i="0" dirty="0"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Promover a inclusão e a acessibilidade não é apenas uma questão de direitos, mas uma necessidade ética e social. Ao adotarmos essas práticas, contribuímos para a construção de uma sociedade mais inclusiva, onde cada indivíduo tem a oportunidade de alcançar seu pleno potencial. O desafio está em continuar lutando pela implementação dessas ações e pela conscientização da importância da diversidade em todos os aspectos da vida</a:t>
            </a:r>
            <a:r>
              <a:rPr lang="pt-BR" b="0" i="0" dirty="0">
                <a:solidFill>
                  <a:schemeClr val="tx1"/>
                </a:solidFill>
                <a:effectLst/>
                <a:latin typeface="Rubik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25539</TotalTime>
  <Words>1121</Words>
  <Application>Microsoft Office PowerPoint</Application>
  <PresentationFormat>Personalizar</PresentationFormat>
  <Paragraphs>45</Paragraphs>
  <Slides>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6" baseType="lpstr">
      <vt:lpstr>Arial</vt:lpstr>
      <vt:lpstr>Calibri</vt:lpstr>
      <vt:lpstr>Comic Sans MS</vt:lpstr>
      <vt:lpstr>Google Sans</vt:lpstr>
      <vt:lpstr>Rubik</vt:lpstr>
      <vt:lpstr>Tahoma</vt:lpstr>
      <vt:lpstr>Verdana</vt:lpstr>
      <vt:lpstr>Office Theme</vt:lpstr>
      <vt:lpstr>CONCIENTIZAR PARA TODOS ACESSAR</vt:lpstr>
      <vt:lpstr>CONCIENTIZAR PARA TODOS ACESSAR</vt:lpstr>
      <vt:lpstr>Experimento Social:  Mobilidade</vt:lpstr>
      <vt:lpstr>Apresentação do PowerPoint</vt:lpstr>
      <vt:lpstr>Experimento Social:  Comunicação</vt:lpstr>
      <vt:lpstr>A COMUNICAÇÃO É UMA CARACTERÍSTICA MARCANTE DA RAÇA HUMANA – PRIVAR O SER HUMANO DA COMUNCAÇÃO É ROUBAR UMA PARTE DA SUA HUMANIDADE.</vt:lpstr>
      <vt:lpstr>Apresentação do PowerPoint</vt:lpstr>
      <vt:lpstr>                                                Inclusão &amp;  Acessibilidade O Impacto na Vida das Pessoas A implementação de ações inclusivas e acessíveis pode mudar vidas de maneira significativa. Por exemplo, estudantes com deficiência que têm acesso a recursos adequados conseguem se desenvolver academicamente e socialmente, o que aumenta suas chances de sucesso no futuro. Além disso, a inclusão no ambiente escolar promove empatia e compreensão entre os alunos, preparando-os para conviver em uma sociedade mais justa e igualitária. Exemplos de Ações de Inclusão e Acessibilidade Adaptações Curriculares: Modificações no currículo para atender às necessidades de todos os alunos. Formação de Professores: Capacitação de educadores para lidar com a diversidade em sala de aula. Infraestrutura Acessível: Garantir que escolas e instituições públicas tenham acessibilidade adequada. Tecnologia Assistiva: Uso de dispositivos e softwares que ajudam pessoas com deficiência a aprender e se comunicar. Conclusão Promover a inclusão e a acessibilidade não é apenas uma questão de direitos, mas uma necessidade ética e social. Ao adotarmos essas práticas, contribuímos para a construção de uma sociedade mais inclusiva, onde cada indivíduo tem a oportunidade de alcançar seu pleno potencial. O desafio está em continuar lutando pela implementação dessas ações e pela conscientização da importância da diversidade em todos os aspectos da vida.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DE SITE - ENTREGA2 CURRICULARIZAÇÃO DA EXTENSÃO</dc:title>
  <dc:creator>Débora Machado</dc:creator>
  <cp:keywords>DAGChgbDrOo,BAEN5voHJF4</cp:keywords>
  <cp:lastModifiedBy>Usuario</cp:lastModifiedBy>
  <cp:revision>9</cp:revision>
  <cp:lastPrinted>2024-12-27T23:12:46Z</cp:lastPrinted>
  <dcterms:created xsi:type="dcterms:W3CDTF">2024-04-15T23:14:05Z</dcterms:created>
  <dcterms:modified xsi:type="dcterms:W3CDTF">2025-01-13T18:36:53Z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2024-04-15T00:00:00Z</vt:filetime>
  </property>
  <property fmtid="{D5CDD505-2E9C-101B-9397-08002B2CF9AE}" pid="3" name="Creator">
    <vt:lpwstr>Canva</vt:lpwstr>
  </property>
  <property fmtid="{D5CDD505-2E9C-101B-9397-08002B2CF9AE}" pid="4" name="LastSaved">
    <vt:filetime>2024-04-15T00:00:00Z</vt:filetime>
  </property>
</Properties>
</file>